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96" d="100"/>
          <a:sy n="96" d="100"/>
        </p:scale>
        <p:origin x="16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D0FA5-E7F5-4370-89F3-ACE382878379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2CEC4-BFDB-4C01-953F-5955602553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3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CEC4-BFDB-4C01-953F-5955602553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85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2CEC4-BFDB-4C01-953F-5955602553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5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764640" y="3531196"/>
            <a:ext cx="4693557" cy="1687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764641" y="1740475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00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86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"/>
              </a:defRPr>
            </a:lvl1pPr>
            <a:lvl2pPr>
              <a:defRPr sz="2800">
                <a:latin typeface=""/>
              </a:defRPr>
            </a:lvl2pPr>
            <a:lvl3pPr>
              <a:defRPr sz="2400">
                <a:latin typeface=""/>
              </a:defRPr>
            </a:lvl3pPr>
            <a:lvl4pPr>
              <a:defRPr sz="2000">
                <a:latin typeface=""/>
              </a:defRPr>
            </a:lvl4pPr>
            <a:lvl5pPr>
              <a:defRPr sz="2000">
                <a:latin typeface="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defRPr sz="4400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992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defRPr sz="4400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2073"/>
            <a:ext cx="8229600" cy="38726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"/>
              </a:defRPr>
            </a:lvl1pPr>
            <a:lvl2pPr>
              <a:defRPr sz="2800">
                <a:latin typeface=""/>
              </a:defRPr>
            </a:lvl2pPr>
            <a:lvl3pPr>
              <a:defRPr sz="2400">
                <a:latin typeface=""/>
              </a:defRPr>
            </a:lvl3pPr>
            <a:lvl4pPr>
              <a:defRPr sz="2000">
                <a:latin typeface=""/>
              </a:defRPr>
            </a:lvl4pPr>
            <a:lvl5pPr>
              <a:defRPr sz="2000">
                <a:latin typeface="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1543587"/>
            <a:ext cx="8229600" cy="5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292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89E3-9012-754D-ACFE-6D3D94DB23F1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descr="BU logo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497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marL="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lang="en-US" sz="4400" b="0" i="0" kern="1200" baseline="0" dirty="0">
                <a:solidFill>
                  <a:srgbClr val="533F7E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69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PPT background_logo_Tex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"/>
              </a:defRPr>
            </a:lvl1pPr>
            <a:lvl2pPr>
              <a:defRPr sz="2000">
                <a:latin typeface=""/>
              </a:defRPr>
            </a:lvl2pPr>
            <a:lvl3pPr>
              <a:defRPr sz="1800">
                <a:latin typeface=""/>
              </a:defRPr>
            </a:lvl3pPr>
            <a:lvl4pPr>
              <a:defRPr sz="1600">
                <a:latin typeface=""/>
              </a:defRPr>
            </a:lvl4pPr>
            <a:lvl5pPr>
              <a:defRPr sz="1600">
                <a:latin typeface="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8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3764641" y="2564887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00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532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89E3-9012-754D-ACFE-6D3D94DB23F1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1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mtClean="0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05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89E3-9012-754D-ACFE-6D3D94DB23F1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351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89E3-9012-754D-ACFE-6D3D94DB23F1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4F592-7035-BC42-B961-96A5B059A85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18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xStyles>
    <p:titleStyle>
      <a:lvl1pPr algn="ctr" defTabSz="457200" rtl="0" eaLnBrk="1" latinLnBrk="0" hangingPunct="1">
        <a:spcBef>
          <a:spcPct val="0"/>
        </a:spcBef>
        <a:buNone/>
        <a:defRPr lang="en-US" sz="4400" b="0" i="0" kern="1200" baseline="0" dirty="0">
          <a:solidFill>
            <a:srgbClr val="533F7E"/>
          </a:solidFill>
          <a:latin typeface="Arial"/>
          <a:ea typeface="ＭＳ Ｐゴシック" charset="0"/>
          <a:cs typeface="ＭＳ Ｐゴシック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B413F"/>
          </a:solidFill>
          <a:latin typeface="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B413F"/>
          </a:solidFill>
          <a:latin typeface="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B413F"/>
          </a:solidFill>
          <a:latin typeface="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B413F"/>
          </a:solidFill>
          <a:latin typeface="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B413F"/>
          </a:solidFill>
          <a:latin typeface="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626635" y="3938012"/>
            <a:ext cx="4969559" cy="1717353"/>
          </a:xfrm>
        </p:spPr>
        <p:txBody>
          <a:bodyPr>
            <a:noAutofit/>
          </a:bodyPr>
          <a:lstStyle/>
          <a:p>
            <a:r>
              <a:rPr sz="2000" dirty="0"/>
              <a:t>Wade Eckert</a:t>
            </a:r>
          </a:p>
          <a:p>
            <a:r>
              <a:rPr lang="en-US" sz="2000" dirty="0"/>
              <a:t>CSD 380: </a:t>
            </a:r>
            <a:r>
              <a:rPr sz="2000" dirty="0"/>
              <a:t>DevOps</a:t>
            </a:r>
          </a:p>
          <a:p>
            <a:r>
              <a:rPr lang="en-US" sz="2000" dirty="0"/>
              <a:t>Module 1.2:</a:t>
            </a:r>
            <a:r>
              <a:rPr sz="2000" dirty="0"/>
              <a:t> The Technology Value Stream</a:t>
            </a:r>
          </a:p>
          <a:p>
            <a:r>
              <a:rPr sz="2000" dirty="0"/>
              <a:t>Bellevue University</a:t>
            </a:r>
          </a:p>
          <a:p>
            <a:r>
              <a:rPr sz="2000" dirty="0"/>
              <a:t>Professor</a:t>
            </a:r>
            <a:r>
              <a:rPr lang="en-US" sz="2000" dirty="0"/>
              <a:t> Nathan Braun</a:t>
            </a:r>
            <a:endParaRPr sz="2000" dirty="0"/>
          </a:p>
          <a:p>
            <a:r>
              <a:rPr sz="2000" dirty="0"/>
              <a:t>Date: </a:t>
            </a:r>
            <a:r>
              <a:rPr lang="en-US" sz="2000" dirty="0"/>
              <a:t>June 13, 2026</a:t>
            </a:r>
            <a:endParaRPr sz="20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764637" y="1700718"/>
            <a:ext cx="4693557" cy="1388236"/>
          </a:xfrm>
        </p:spPr>
        <p:txBody>
          <a:bodyPr/>
          <a:lstStyle/>
          <a:p>
            <a:r>
              <a:rPr dirty="0"/>
              <a:t>The Technology Value Stream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technology value stream is the process required to convert a business hypothesis into a technology-enabled service or feature that delivers value to customers.</a:t>
            </a:r>
          </a:p>
          <a:p>
            <a:r>
              <a:rPr lang="en-US" sz="2400" dirty="0"/>
              <a:t>The value stream begins when work is accepted into development and ends when the change is successfully running in production.</a:t>
            </a:r>
          </a:p>
          <a:p>
            <a:r>
              <a:rPr lang="en-US" sz="2400" dirty="0"/>
              <a:t>Activities within the value stream include development, testing, deployment, operations, and feedback.</a:t>
            </a:r>
          </a:p>
          <a:p>
            <a:r>
              <a:rPr lang="en-US" sz="2400" dirty="0"/>
              <a:t>DevOps focuses on improving the speed, quality, and reliability of work moving through the value stream.</a:t>
            </a:r>
            <a:endParaRPr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What Is a Technology Value Stream?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First Way: </a:t>
            </a:r>
            <a:r>
              <a:rPr sz="2800" b="1" dirty="0"/>
              <a:t>Flow</a:t>
            </a:r>
            <a:r>
              <a:rPr sz="2800" dirty="0"/>
              <a:t> – move work quickly through the system.</a:t>
            </a:r>
          </a:p>
          <a:p>
            <a:r>
              <a:rPr sz="2800" dirty="0"/>
              <a:t>Second Way: </a:t>
            </a:r>
            <a:r>
              <a:rPr sz="2800" b="1" dirty="0"/>
              <a:t>Feedback</a:t>
            </a:r>
            <a:r>
              <a:rPr sz="2800" dirty="0"/>
              <a:t> – identify and correct problems rapidly.</a:t>
            </a:r>
          </a:p>
          <a:p>
            <a:r>
              <a:rPr sz="2800" dirty="0"/>
              <a:t>Third Way: </a:t>
            </a:r>
            <a:r>
              <a:rPr sz="2800" b="1" dirty="0"/>
              <a:t>Continuous Learning </a:t>
            </a:r>
            <a:r>
              <a:rPr sz="2800" dirty="0"/>
              <a:t>– improve through experimentation.</a:t>
            </a:r>
            <a:br>
              <a:rPr lang="en-US" sz="2800" dirty="0"/>
            </a:br>
            <a:endParaRPr sz="2800" dirty="0"/>
          </a:p>
          <a:p>
            <a:r>
              <a:rPr sz="2800" dirty="0"/>
              <a:t>Together these principles reduce delays and improve customer value.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Technology Value Streams and the Three 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Provide</a:t>
            </a:r>
            <a:r>
              <a:rPr lang="en-US" dirty="0"/>
              <a:t>s</a:t>
            </a:r>
            <a:r>
              <a:rPr dirty="0"/>
              <a:t> visibility into how work moves from concept to customer.</a:t>
            </a:r>
          </a:p>
          <a:p>
            <a:r>
              <a:rPr dirty="0"/>
              <a:t>Expose</a:t>
            </a:r>
            <a:r>
              <a:rPr lang="en-US" dirty="0"/>
              <a:t>s</a:t>
            </a:r>
            <a:r>
              <a:rPr dirty="0"/>
              <a:t> bottlenecks, delays, and unnecessary handoffs.</a:t>
            </a:r>
          </a:p>
          <a:p>
            <a:r>
              <a:rPr dirty="0"/>
              <a:t>Improve</a:t>
            </a:r>
            <a:r>
              <a:rPr lang="en-US" dirty="0"/>
              <a:t>s</a:t>
            </a:r>
            <a:r>
              <a:rPr dirty="0"/>
              <a:t> delivery speed, quality, and customer satisfaction.</a:t>
            </a:r>
          </a:p>
          <a:p>
            <a:r>
              <a:rPr dirty="0"/>
              <a:t>Encourage</a:t>
            </a:r>
            <a:r>
              <a:rPr lang="en-US" dirty="0"/>
              <a:t>s</a:t>
            </a:r>
            <a:r>
              <a:rPr dirty="0"/>
              <a:t> optimization of the entire system rather than individual tasks.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Technology Value Streams Matter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 dirty="0"/>
              <a:t>Lead Time</a:t>
            </a:r>
            <a:r>
              <a:rPr sz="2400" dirty="0"/>
              <a:t>: total time from request to delivery.</a:t>
            </a:r>
          </a:p>
          <a:p>
            <a:r>
              <a:rPr sz="2400" b="1" dirty="0"/>
              <a:t>Processing Time</a:t>
            </a:r>
            <a:r>
              <a:rPr sz="2400" dirty="0"/>
              <a:t>: time actively spent working.</a:t>
            </a:r>
          </a:p>
          <a:p>
            <a:r>
              <a:rPr sz="2400" dirty="0"/>
              <a:t>Waiting in queues often accounts for most delays.</a:t>
            </a:r>
          </a:p>
          <a:p>
            <a:r>
              <a:rPr sz="2400" dirty="0"/>
              <a:t>Reducing lead time is a primary DevOps objective.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Time vs. Processing Time</a:t>
            </a:r>
          </a:p>
        </p:txBody>
      </p:sp>
      <p:pic>
        <p:nvPicPr>
          <p:cNvPr id="4" name="Picture 3" descr="lead_process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791" y="3508512"/>
            <a:ext cx="5518417" cy="2306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1417" y="584970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Figure 1.1: Lead Time vs. Process Time of a Deployment Operation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499586"/>
          </a:xfrm>
        </p:spPr>
        <p:txBody>
          <a:bodyPr/>
          <a:lstStyle/>
          <a:p>
            <a:r>
              <a:rPr sz="2000" dirty="0"/>
              <a:t>Large batches, manual approvals, and complex dependencies create delays.</a:t>
            </a:r>
          </a:p>
          <a:p>
            <a:r>
              <a:rPr sz="2000" dirty="0"/>
              <a:t>Long lead times slow feedback and increase risk.</a:t>
            </a:r>
          </a:p>
          <a:p>
            <a:r>
              <a:rPr sz="2000" dirty="0"/>
              <a:t>Defects are often discovered late in the process.</a:t>
            </a:r>
          </a:p>
          <a:p>
            <a:r>
              <a:rPr sz="2000" dirty="0"/>
              <a:t>Organizations become less responsive to customer needs.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Deployment Lead Times Requiring Months</a:t>
            </a:r>
          </a:p>
        </p:txBody>
      </p:sp>
      <p:pic>
        <p:nvPicPr>
          <p:cNvPr id="4" name="Picture 3" descr="bad_value_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8" y="3428999"/>
            <a:ext cx="8955944" cy="2703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Small code changes move rapidly through the pipeline.</a:t>
            </a:r>
          </a:p>
          <a:p>
            <a:r>
              <a:rPr sz="2400" dirty="0"/>
              <a:t>Automated testing provides immediate feedback.</a:t>
            </a:r>
          </a:p>
          <a:p>
            <a:r>
              <a:rPr sz="2400" dirty="0"/>
              <a:t>Frequent deployments reduce risk and improve quality.</a:t>
            </a:r>
          </a:p>
          <a:p>
            <a:r>
              <a:rPr sz="2400" dirty="0"/>
              <a:t>Organizations can deliver value continuously.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600" dirty="0"/>
              <a:t>Our DevOps Ideal: Deployment Lead Times of Minutes</a:t>
            </a:r>
          </a:p>
        </p:txBody>
      </p:sp>
      <p:pic>
        <p:nvPicPr>
          <p:cNvPr id="4" name="Picture 3" descr="good_value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94" y="3651636"/>
            <a:ext cx="7426412" cy="2441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b="1" dirty="0"/>
              <a:t>Lead Time </a:t>
            </a:r>
            <a:r>
              <a:rPr sz="2800" dirty="0"/>
              <a:t>– total time required to deliver value.</a:t>
            </a:r>
          </a:p>
          <a:p>
            <a:r>
              <a:rPr sz="2800" b="1" dirty="0"/>
              <a:t>Flow Efficiency </a:t>
            </a:r>
            <a:r>
              <a:rPr sz="2800" dirty="0"/>
              <a:t>– </a:t>
            </a:r>
            <a:r>
              <a:rPr lang="en-US" sz="2800" dirty="0"/>
              <a:t>flow items </a:t>
            </a:r>
            <a:r>
              <a:rPr sz="2800" dirty="0"/>
              <a:t>active</a:t>
            </a:r>
            <a:r>
              <a:rPr lang="en-US" sz="2800" dirty="0"/>
              <a:t>ly</a:t>
            </a:r>
            <a:r>
              <a:rPr sz="2800" dirty="0"/>
              <a:t> work</a:t>
            </a:r>
            <a:r>
              <a:rPr lang="en-US" sz="2800" dirty="0"/>
              <a:t>ed</a:t>
            </a:r>
            <a:r>
              <a:rPr sz="2800" dirty="0"/>
              <a:t> </a:t>
            </a:r>
            <a:r>
              <a:rPr lang="en-US" sz="2800" dirty="0"/>
              <a:t>on</a:t>
            </a:r>
            <a:r>
              <a:rPr sz="2800" dirty="0"/>
              <a:t> versus </a:t>
            </a:r>
            <a:r>
              <a:rPr lang="en-US" sz="2800" dirty="0"/>
              <a:t>total time elapsed</a:t>
            </a:r>
            <a:r>
              <a:rPr sz="2800" dirty="0"/>
              <a:t>.</a:t>
            </a:r>
          </a:p>
          <a:p>
            <a:r>
              <a:rPr sz="2800" b="1" dirty="0"/>
              <a:t>Flow Velocity </a:t>
            </a:r>
            <a:r>
              <a:rPr sz="2800" dirty="0"/>
              <a:t>– amount of work completed in a period.</a:t>
            </a:r>
          </a:p>
          <a:p>
            <a:r>
              <a:rPr sz="2800" b="1" dirty="0"/>
              <a:t>Flow Load </a:t>
            </a:r>
            <a:r>
              <a:rPr sz="2800" dirty="0"/>
              <a:t>– active and queued work in the system.</a:t>
            </a:r>
          </a:p>
          <a:p>
            <a:r>
              <a:rPr sz="2800" b="1" dirty="0"/>
              <a:t>Flow Distribution </a:t>
            </a:r>
            <a:r>
              <a:rPr sz="2800" dirty="0"/>
              <a:t>– balance of work across value streams.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Technology Value Stream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dirty="0"/>
              <a:t>Continuous Integration enables frequent code integration.</a:t>
            </a:r>
          </a:p>
          <a:p>
            <a:r>
              <a:rPr sz="2600" dirty="0"/>
              <a:t>Automated Testing provides fast and reliable feedback.</a:t>
            </a:r>
          </a:p>
          <a:p>
            <a:r>
              <a:rPr sz="2600" dirty="0"/>
              <a:t>Small Batch Sizes reduce risk and simplify troubleshooting.</a:t>
            </a:r>
          </a:p>
          <a:p>
            <a:r>
              <a:rPr sz="2600" dirty="0"/>
              <a:t>Continuous Improvement helps teams learn and adapt.</a:t>
            </a:r>
          </a:p>
          <a:p>
            <a:r>
              <a:rPr sz="2600" dirty="0"/>
              <a:t>These practices support faster and more reliable delivery.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Improving Flow Through DevOps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Kim, G., Humble, J., Debois, P., &amp; Willis, J. (2021). </a:t>
            </a:r>
            <a:r>
              <a:rPr lang="en-US" i="1" dirty="0"/>
              <a:t>The DevOps handbook: How to create world-class agility, reliability, &amp; security in technology organizations</a:t>
            </a:r>
            <a:r>
              <a:rPr lang="en-US" dirty="0"/>
              <a:t> (2nd ed.). IT Revolution Press.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9"/>
  <p:tag name="ARTICULATE_PROJECT_OPEN" val="0"/>
  <p:tag name="ARTICULATE_DESIGN_ID_OFFICE THEME" val="DPiYUL0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508</Words>
  <Application>Microsoft Office PowerPoint</Application>
  <PresentationFormat>On-screen Show (4:3)</PresentationFormat>
  <Paragraphs>54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The Technology Value Stream</vt:lpstr>
      <vt:lpstr>What Is a Technology Value Stream?</vt:lpstr>
      <vt:lpstr>Technology Value Streams and the Three Ways</vt:lpstr>
      <vt:lpstr>Why Technology Value Streams Matter</vt:lpstr>
      <vt:lpstr>Lead Time vs. Processing Time</vt:lpstr>
      <vt:lpstr>Deployment Lead Times Requiring Months</vt:lpstr>
      <vt:lpstr>Our DevOps Ideal: Deployment Lead Times of Minutes</vt:lpstr>
      <vt:lpstr>Technology Value Stream Metrics</vt:lpstr>
      <vt:lpstr>Improving Flow Through DevOps</vt:lpstr>
      <vt:lpstr>References</vt:lpstr>
    </vt:vector>
  </TitlesOfParts>
  <Company>Bailey Lauerman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Jiear Vang</dc:creator>
  <cp:lastModifiedBy>Wade Eckert</cp:lastModifiedBy>
  <cp:revision>31</cp:revision>
  <dcterms:created xsi:type="dcterms:W3CDTF">2015-02-06T15:48:06Z</dcterms:created>
  <dcterms:modified xsi:type="dcterms:W3CDTF">2026-06-14T05:13:02Z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1FFFA739-56BB-48D1-AEA6-9D67A4BA80AD</vt:lpwstr>
  </property>
  <property fmtid="{D5CDD505-2E9C-101B-9397-08002B2CF9AE}" pid="3" name="ArticulatePath">
    <vt:lpwstr>https://bellevueuniversity-my.sharepoint.com/personal/jheitz_bellevue_edu/Documents/Quality/QA/BU Powerpoint Templates/BELLE142409_Logo_GoldLine</vt:lpwstr>
  </property>
</Properties>
</file>