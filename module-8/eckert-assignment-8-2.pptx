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74" autoAdjust="0"/>
  </p:normalViewPr>
  <p:slideViewPr>
    <p:cSldViewPr snapToGrid="0" snapToObjects="1">
      <p:cViewPr varScale="1">
        <p:scale>
          <a:sx n="112" d="100"/>
          <a:sy n="112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E2000A8-AB4E-43D3-A18B-4EAF48B7B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4640" y="3531196"/>
            <a:ext cx="4693557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ED7FAA-591B-41B7-8C04-304798F3A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4641" y="1740475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550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E44C2-D402-4494-826F-727C928A4A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25031F-6C24-4AC7-919E-B5A2F631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1D4D51E-8179-4C0E-B3DE-A0EF160DB1D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D36003-D8D5-47F4-A31E-3D8D5888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302AE-CA9E-47BE-BC07-3F0E00E3B7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2CA8AE-5F53-4FD7-84AB-A75CFCED3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5443"/>
            <a:ext cx="8229600" cy="969466"/>
          </a:xfrm>
        </p:spPr>
        <p:txBody>
          <a:bodyPr anchor="b">
            <a:normAutofit/>
          </a:bodyPr>
          <a:lstStyle>
            <a:lvl1pPr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DF116A0-1B41-42CF-B8F2-64863E36B0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132073"/>
            <a:ext cx="8229600" cy="38726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57B342-CA0A-4CA0-B5AA-87278DED7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2857"/>
            <a:ext cx="8229600" cy="429645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73955B8-2E03-4CFE-BCBA-4DBDF35F80EF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3587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E1E3-4081-47AE-A55D-7DD06430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140CB-684A-40DB-BB21-EE9AC2DD0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B20C3-A56D-4FA4-A63C-8D2AC6A086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8/2/2026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47479-56BE-46C3-9AA6-BEA79E356D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173B-7D26-4010-A318-1D4B18668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386ED-87BE-45D0-A90C-C2C3E16F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marL="0" algn="l">
              <a:buNone/>
              <a:defRPr sz="4400" b="0" i="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96B1-9A2D-45D0-B282-6D1C81A5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latin typeface="Arial"/>
                <a:ea typeface="Arial"/>
                <a:cs typeface="Arial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2B46D-C03B-4D37-AA09-AD05703074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latin typeface="Arial"/>
                <a:ea typeface="Arial"/>
                <a:cs typeface="Arial"/>
              </a:defRPr>
            </a:lvl2pPr>
            <a:lvl3pPr>
              <a:buNone/>
              <a:defRPr sz="2000"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latin typeface="Arial"/>
                <a:ea typeface="Arial"/>
                <a:cs typeface="Arial"/>
              </a:defRPr>
            </a:lvl4pPr>
            <a:lvl5pPr>
              <a:buNone/>
              <a:defRPr sz="1800">
                <a:latin typeface="Arial"/>
                <a:ea typeface="Arial"/>
                <a:cs typeface="Arial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6F69A-AA4F-44DD-8036-5416DBA28B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E631986-11DB-4BF8-ADC8-70C64BF8F168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06DF2F-0E88-4F7F-9273-9C03287B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E918-0078-4ECC-A672-6C425B0F9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18E8-408A-44C5-B952-3536F6DC397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863D9-D954-47BF-A4CB-F86386D56AB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BAFAB-2DB9-4219-A43D-F1778EB5E1D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latin typeface="Arial"/>
                <a:ea typeface="Arial"/>
                <a:cs typeface="Arial"/>
              </a:defRPr>
            </a:lvl1pPr>
            <a:lvl2pPr>
              <a:buNone/>
              <a:defRPr sz="2000">
                <a:latin typeface="Arial"/>
                <a:ea typeface="Arial"/>
                <a:cs typeface="Arial"/>
              </a:defRPr>
            </a:lvl2pPr>
            <a:lvl3pPr>
              <a:buNone/>
              <a:defRPr sz="1800">
                <a:latin typeface="Arial"/>
                <a:ea typeface="Arial"/>
                <a:cs typeface="Arial"/>
              </a:defRPr>
            </a:lvl3pPr>
            <a:lvl4pPr>
              <a:buNone/>
              <a:defRPr sz="1600">
                <a:latin typeface="Arial"/>
                <a:ea typeface="Arial"/>
                <a:cs typeface="Arial"/>
              </a:defRPr>
            </a:lvl4pPr>
            <a:lvl5pPr>
              <a:buNone/>
              <a:defRPr sz="1600">
                <a:latin typeface="Arial"/>
                <a:ea typeface="Arial"/>
                <a:cs typeface="Arial"/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5CC4E-1671-4A4F-A012-0F86F41B9D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45991CCA-741B-4AFD-8629-EC189D98F85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26"/>
            <a:ext cx="8229600" cy="5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79D27BB-3BC3-49A8-8818-757B9860D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4641" y="2564887"/>
            <a:ext cx="4693557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5500">
                <a:solidFill>
                  <a:srgbClr val="533F7E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AB3FB-F3AE-415E-B942-43E77FA76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8/2/2026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5D46D-2865-42C8-AA25-969D44FD2C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93EF-5FCC-43B3-A8F9-03E70DE4A6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FA5B0-A929-47EC-B995-54EAA404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F6066-AFAD-4E8C-8946-F3B5E89F7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latin typeface="Arial"/>
                <a:ea typeface="Arial"/>
                <a:cs typeface="Arial"/>
              </a:defRPr>
            </a:lvl1pPr>
            <a:lvl2pPr>
              <a:buNone/>
              <a:defRPr sz="2800">
                <a:latin typeface="Arial"/>
                <a:ea typeface="Arial"/>
                <a:cs typeface="Arial"/>
              </a:defRPr>
            </a:lvl2pPr>
            <a:lvl3pPr>
              <a:buNone/>
              <a:defRPr sz="2400">
                <a:latin typeface="Arial"/>
                <a:ea typeface="Arial"/>
                <a:cs typeface="Arial"/>
              </a:defRPr>
            </a:lvl3pPr>
            <a:lvl4pPr>
              <a:buNone/>
              <a:defRPr sz="2000">
                <a:latin typeface="Arial"/>
                <a:ea typeface="Arial"/>
                <a:cs typeface="Arial"/>
              </a:defRPr>
            </a:lvl4pPr>
            <a:lvl5pPr>
              <a:buNone/>
              <a:defRPr sz="2000">
                <a:latin typeface="Arial"/>
                <a:ea typeface="Arial"/>
                <a:cs typeface="Arial"/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0D1DE-F0C3-4225-A5F7-4B375DFB2C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CDA26-13F8-432D-A1FD-940B52EC97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D240FE2-1CEB-445D-BCD9-518128931745}"/>
              </a:ext>
            </a:extLst>
          </p:cNvPr>
          <p:cNvSpPr>
            <a:spLocks noGrp="1"/>
          </p:cNvSpPr>
          <p:nvPr/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>
              <a:buNone/>
              <a:defRPr sz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5642705-0869-5E41-BF54-4C6A6B6F7BB4}" type="slidenum">
              <a:rPr>
                <a:latin typeface="Arial"/>
                <a:ea typeface="Arial"/>
                <a:cs typeface="Arial"/>
              </a:rPr>
              <a:t>‹#›</a:t>
            </a:fld>
            <a:endParaRPr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E0434-2F24-40C1-B4A0-25E9B3A19C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2E89E3-9012-754D-ACFE-6D3D94DB23F1}" type="datetimeFigureOut">
              <a:t>8/2/2026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54E2-FA1D-45AE-A7B7-5063325DAE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8D7FE-ED31-4542-BF97-A59F6EFFF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94F592-7035-BC42-B961-96A5B059A85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D80BF-CAEE-4186-BEFB-377FBC8F296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89E3-9012-754D-ACFE-6D3D94DB23F1}" type="datetimeFigureOut">
              <a:t>8/2/2026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4165C-3DCD-4BB6-B52D-3735C7E6AE4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8C03-902C-4589-8900-1BC34B6822A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F592-7035-BC42-B961-96A5B059A853}" type="slidenum">
              <a:t>‹#›</a:t>
            </a:fld>
            <a:endParaRPr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0C4075D-A00B-494E-9127-FC7F00FE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D31F3DD-EAEA-4872-B986-230EBE6D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>
        <a:buNone/>
        <a:defRPr sz="4400" b="0" i="0">
          <a:solidFill>
            <a:srgbClr val="533F7E"/>
          </a:solidFill>
          <a:latin typeface="Arial"/>
          <a:ea typeface="Arial"/>
          <a:cs typeface="Arial"/>
        </a:defRPr>
      </a:lvl1pPr>
    </p:titleStyle>
    <p:bodyStyle>
      <a:lvl1pPr marL="342900" indent="-342900" algn="l">
        <a:buChar char="•"/>
        <a:defRPr sz="3200">
          <a:solidFill>
            <a:srgbClr val="3B413F"/>
          </a:solidFill>
        </a:defRPr>
      </a:lvl1pPr>
      <a:lvl2pPr marL="742950" indent="-285750" algn="l">
        <a:buChar char="–"/>
        <a:defRPr sz="2800">
          <a:solidFill>
            <a:srgbClr val="3B413F"/>
          </a:solidFill>
        </a:defRPr>
      </a:lvl2pPr>
      <a:lvl3pPr marL="1143000" indent="-228600" algn="l">
        <a:buChar char="•"/>
        <a:defRPr sz="2400">
          <a:solidFill>
            <a:srgbClr val="3B413F"/>
          </a:solidFill>
        </a:defRPr>
      </a:lvl3pPr>
      <a:lvl4pPr marL="1600200" indent="-228600" algn="l">
        <a:buChar char="–"/>
        <a:defRPr sz="2000">
          <a:solidFill>
            <a:srgbClr val="3B413F"/>
          </a:solidFill>
        </a:defRPr>
      </a:lvl4pPr>
      <a:lvl5pPr marL="2057400" indent="-228600" algn="l">
        <a:buChar char="»"/>
        <a:defRPr sz="2000">
          <a:solidFill>
            <a:srgbClr val="3B413F"/>
          </a:solidFill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F53366-F6CE-4D2A-ACA2-C9486796C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 algn="ctr">
              <a:buNone/>
              <a:defRPr sz="3450">
                <a:solidFill>
                  <a:srgbClr val="4F3775"/>
                </a:solidFill>
              </a:defRPr>
            </a:pPr>
            <a:r>
              <a:rPr sz="3450">
                <a:solidFill>
                  <a:srgbClr val="4F3775"/>
                </a:solidFill>
              </a:rPr>
              <a:t>Barriers to a Just, Learning Culture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37EA8FA-554F-49A6-954A-0ED06870E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38100" tIns="28575" rIns="38100" bIns="28575" anchor="ctr">
            <a:normAutofit fontScale="99645"/>
          </a:bodyPr>
          <a:lstStyle/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Implementation Challenges in DevOps</a:t>
            </a:r>
          </a:p>
          <a:p>
            <a:endParaRPr sz="1350">
              <a:solidFill>
                <a:srgbClr val="8A8A8A"/>
              </a:solidFill>
            </a:endParaRP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Wade Eckert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CSD380-T301 DevOps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Professor Nathan Braun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Bellevue University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Module 8.2 Assignment</a:t>
            </a:r>
          </a:p>
          <a:p>
            <a:pPr algn="ctr">
              <a:lnSpc>
                <a:spcPct val="102000"/>
              </a:lnSpc>
              <a:buNone/>
              <a:defRPr sz="1350">
                <a:solidFill>
                  <a:srgbClr val="8A8A8A"/>
                </a:solidFill>
              </a:defRPr>
            </a:pPr>
            <a:r>
              <a:rPr sz="1350">
                <a:solidFill>
                  <a:srgbClr val="8A8A8A"/>
                </a:solidFill>
              </a:rPr>
              <a:t>August 2, 2026</a:t>
            </a:r>
          </a:p>
        </p:txBody>
      </p:sp>
    </p:spTree>
    <p:extLst>
      <p:ext uri="{BB962C8B-B14F-4D97-AF65-F5344CB8AC3E}">
        <p14:creationId xmlns:p14="http://schemas.microsoft.com/office/powerpoint/2010/main" val="182769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A Just Culture Balances Learning and Accountability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A just culture examines how systems, processes, tools, and working conditions contribute to incidents instead of automatically blaming the person closest to the failure.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lang="en-US" sz="1500" dirty="0">
                <a:solidFill>
                  <a:srgbClr val="333333"/>
                </a:solidFill>
              </a:rPr>
              <a:t>This</a:t>
            </a:r>
            <a:r>
              <a:rPr sz="1500" dirty="0">
                <a:solidFill>
                  <a:srgbClr val="333333"/>
                </a:solidFill>
              </a:rPr>
              <a:t> does not remove individual accountability or excuse reckless conduct.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Human error, risky choices, and reckless behavior require different organizational responses.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Employees must believe they will be treated fairly before they will openly report mistakes, close calls, and unsafe conditions.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The purpose</a:t>
            </a:r>
            <a:r>
              <a:rPr lang="en-US" sz="1500" dirty="0">
                <a:solidFill>
                  <a:srgbClr val="333333"/>
                </a:solidFill>
              </a:rPr>
              <a:t> of a just culture</a:t>
            </a:r>
            <a:r>
              <a:rPr sz="1500" dirty="0">
                <a:solidFill>
                  <a:srgbClr val="333333"/>
                </a:solidFill>
              </a:rPr>
              <a:t> is to obtain accurate information, improve the system, and reduce the likelihood that similar failures will occur again.</a:t>
            </a:r>
          </a:p>
        </p:txBody>
      </p:sp>
      <p:sp>
        <p:nvSpPr>
          <p:cNvPr id="4" name="visible-slide-number-2">
            <a:extLst>
              <a:ext uri="{FF2B5EF4-FFF2-40B4-BE49-F238E27FC236}">
                <a16:creationId xmlns:a16="http://schemas.microsoft.com/office/drawing/2014/main" id="{EE8D11BE-43EB-4BF5-AD0C-81209DF0E81D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200">
                <a:solidFill>
                  <a:srgbClr val="4F3775"/>
                </a:solidFill>
              </a:rPr>
              <a:t>A History of Blame Creates Fear and Underreporting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Employees may remain silent when previous incidents have resulted in punishment, embarrassment, damaged reputations, or lost opportunities.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</a:t>
            </a:r>
            <a:r>
              <a:rPr lang="en-US" sz="1500" dirty="0">
                <a:solidFill>
                  <a:srgbClr val="333333"/>
                </a:solidFill>
              </a:rPr>
              <a:t>This f</a:t>
            </a:r>
            <a:r>
              <a:rPr sz="1500" dirty="0">
                <a:solidFill>
                  <a:srgbClr val="333333"/>
                </a:solidFill>
              </a:rPr>
              <a:t>ear can cause people to minimize mistakes, omit important details, or avoid reporting close calls that did not produce visible harm.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When information is withheld, the organization sees only the final failure and not the conditions that allowed it to develop.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Employees judge the organization by how leaders respond when a real incident creates pressure, cost, or customer impact.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lang="en-US" sz="150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9"/>
              </a:spcAft>
              <a:defRPr sz="1500">
                <a:solidFill>
                  <a:srgbClr val="333333"/>
                </a:solidFill>
              </a:defRPr>
            </a:pPr>
            <a:r>
              <a:rPr lang="en-US" sz="1500" dirty="0">
                <a:solidFill>
                  <a:srgbClr val="333333"/>
                </a:solidFill>
              </a:rPr>
              <a:t>• Publishing a new policy does not immediately remove the effects of earlier blame-based responses.</a:t>
            </a: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r>
              <a:rPr sz="1500" dirty="0">
                <a:solidFill>
                  <a:srgbClr val="333333"/>
                </a:solidFill>
              </a:rPr>
              <a:t>• Trust must be rebuilt gradually through repeated examples of fair treatment and constructive incident reviews.</a:t>
            </a: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lang="en-US" sz="1500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500">
                <a:solidFill>
                  <a:srgbClr val="333333"/>
                </a:solidFill>
              </a:defRPr>
            </a:pPr>
            <a:endParaRPr sz="1500" dirty="0">
              <a:solidFill>
                <a:srgbClr val="333333"/>
              </a:solidFill>
            </a:endParaRPr>
          </a:p>
        </p:txBody>
      </p:sp>
      <p:sp>
        <p:nvSpPr>
          <p:cNvPr id="4" name="visible-slide-number-3">
            <a:extLst>
              <a:ext uri="{FF2B5EF4-FFF2-40B4-BE49-F238E27FC236}">
                <a16:creationId xmlns:a16="http://schemas.microsoft.com/office/drawing/2014/main" id="{1532F333-1F33-4977-B820-0E05148E2E63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Fair Accountability Is Difficult to Apply Consistently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Leaders must distinguish an unintentional error from a risky shortcut or a conscious disregard for an important safety requirement.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The facts are not always clear when several people, tools, and processes contributed to the outcome.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</a:t>
            </a:r>
            <a:r>
              <a:rPr lang="en-US" sz="1388" dirty="0">
                <a:solidFill>
                  <a:srgbClr val="333333"/>
                </a:solidFill>
              </a:rPr>
              <a:t>Also, d</a:t>
            </a:r>
            <a:r>
              <a:rPr sz="1388" dirty="0">
                <a:solidFill>
                  <a:srgbClr val="333333"/>
                </a:solidFill>
              </a:rPr>
              <a:t>ifferent managers may interpret similar behavior differently, producing inconsistent coaching or disciplinary decisions.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Employees may lose trust if one person is punished while another receives support for a comparable action.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</a:t>
            </a:r>
            <a:r>
              <a:rPr lang="en-US" sz="1388" dirty="0">
                <a:solidFill>
                  <a:srgbClr val="333333"/>
                </a:solidFill>
              </a:rPr>
              <a:t> However,</a:t>
            </a:r>
            <a:r>
              <a:rPr sz="1388" dirty="0">
                <a:solidFill>
                  <a:srgbClr val="333333"/>
                </a:solidFill>
              </a:rPr>
              <a:t> </a:t>
            </a:r>
            <a:r>
              <a:rPr lang="en-US" sz="1388" dirty="0">
                <a:solidFill>
                  <a:srgbClr val="333333"/>
                </a:solidFill>
              </a:rPr>
              <a:t>a</a:t>
            </a:r>
            <a:r>
              <a:rPr sz="1388" dirty="0">
                <a:solidFill>
                  <a:srgbClr val="333333"/>
                </a:solidFill>
              </a:rPr>
              <a:t> culture that never holds anyone accountable can also appear unfair and may allow reckless behavior to continue.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Clear standards and fair review procedures help decisions focus on behavior and context instead of only the severity of the outcome.</a:t>
            </a:r>
          </a:p>
        </p:txBody>
      </p:sp>
      <p:sp>
        <p:nvSpPr>
          <p:cNvPr id="4" name="visible-slide-number-5">
            <a:extLst>
              <a:ext uri="{FF2B5EF4-FFF2-40B4-BE49-F238E27FC236}">
                <a16:creationId xmlns:a16="http://schemas.microsoft.com/office/drawing/2014/main" id="{E55053B4-15AE-412F-B54B-217BF8963FCC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Leadership Actions Must Match the Policy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Executives and managers shape the culture through their reactions when a serious incident occurs.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A leader may support blameless learning during normal operations but </a:t>
            </a:r>
            <a:r>
              <a:rPr lang="en-US" sz="1388" dirty="0">
                <a:solidFill>
                  <a:srgbClr val="333333"/>
                </a:solidFill>
              </a:rPr>
              <a:t>feel the need to </a:t>
            </a:r>
            <a:r>
              <a:rPr sz="1388" dirty="0">
                <a:solidFill>
                  <a:srgbClr val="333333"/>
                </a:solidFill>
              </a:rPr>
              <a:t>return to punishment when customers or senior management demand an immediate answer.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Employees quickly notice contradictions between official policies and management behavior.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Leaders must avoid public blame, ask system-focused questions, and protect honest reporting even when an incident is expensive or highly visible.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Management must also provide time and resources for corrective actions instead of treating post-incident learning as secondary work.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A just culture becomes credible only when leaders apply its principles consistently under pressure.</a:t>
            </a:r>
          </a:p>
        </p:txBody>
      </p:sp>
      <p:sp>
        <p:nvSpPr>
          <p:cNvPr id="4" name="visible-slide-number-6">
            <a:extLst>
              <a:ext uri="{FF2B5EF4-FFF2-40B4-BE49-F238E27FC236}">
                <a16:creationId xmlns:a16="http://schemas.microsoft.com/office/drawing/2014/main" id="{F63FCF58-420A-4E23-9E91-A5AA3A4FF08F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400">
                <a:solidFill>
                  <a:srgbClr val="4F3775"/>
                </a:solidFill>
              </a:rPr>
              <a:t>Training and Communication Must Reach Everyone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Employees need a shared understanding of human error, risky behavior, reckless behavior, system responsibility, and individual accountability.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Managers </a:t>
            </a:r>
            <a:r>
              <a:rPr lang="en-US" sz="1388" dirty="0">
                <a:solidFill>
                  <a:srgbClr val="333333"/>
                </a:solidFill>
              </a:rPr>
              <a:t>may </a:t>
            </a:r>
            <a:r>
              <a:rPr sz="1388" dirty="0">
                <a:solidFill>
                  <a:srgbClr val="333333"/>
                </a:solidFill>
              </a:rPr>
              <a:t>require additional training because they must make difficult decisions after incidents and guide blameless reviews.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Teams </a:t>
            </a:r>
            <a:r>
              <a:rPr lang="en-US" sz="1388" dirty="0">
                <a:solidFill>
                  <a:srgbClr val="333333"/>
                </a:solidFill>
              </a:rPr>
              <a:t>should avoid using </a:t>
            </a:r>
            <a:r>
              <a:rPr sz="1388" dirty="0">
                <a:solidFill>
                  <a:srgbClr val="333333"/>
                </a:solidFill>
              </a:rPr>
              <a:t>judgmental language unintentionally, such as describing an action as careless before understanding the information available at the time.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New employees, contractors, and business partners may not understand the organization’s reporting expectations.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</a:t>
            </a:r>
            <a:r>
              <a:rPr lang="en-US" sz="1388" dirty="0">
                <a:solidFill>
                  <a:srgbClr val="333333"/>
                </a:solidFill>
              </a:rPr>
              <a:t>Different d</a:t>
            </a:r>
            <a:r>
              <a:rPr sz="1388" dirty="0">
                <a:solidFill>
                  <a:srgbClr val="333333"/>
                </a:solidFill>
              </a:rPr>
              <a:t>epartments may adopt </a:t>
            </a:r>
            <a:r>
              <a:rPr lang="en-US" sz="1388" dirty="0">
                <a:solidFill>
                  <a:srgbClr val="333333"/>
                </a:solidFill>
              </a:rPr>
              <a:t>organizational</a:t>
            </a:r>
            <a:r>
              <a:rPr sz="1388" dirty="0">
                <a:solidFill>
                  <a:srgbClr val="333333"/>
                </a:solidFill>
              </a:rPr>
              <a:t> principles differently, creating confusion when incidents involve several teams.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Continu</a:t>
            </a:r>
            <a:r>
              <a:rPr lang="en-US" sz="1388" dirty="0">
                <a:solidFill>
                  <a:srgbClr val="333333"/>
                </a:solidFill>
              </a:rPr>
              <a:t>ed</a:t>
            </a:r>
            <a:r>
              <a:rPr sz="1388" dirty="0">
                <a:solidFill>
                  <a:srgbClr val="333333"/>
                </a:solidFill>
              </a:rPr>
              <a:t> education, clear examples, trained facilitators, and consistent review procedures </a:t>
            </a:r>
            <a:r>
              <a:rPr lang="en-US" sz="1388" dirty="0">
                <a:solidFill>
                  <a:srgbClr val="333333"/>
                </a:solidFill>
              </a:rPr>
              <a:t>help </a:t>
            </a:r>
            <a:r>
              <a:rPr sz="1388" dirty="0">
                <a:solidFill>
                  <a:srgbClr val="333333"/>
                </a:solidFill>
              </a:rPr>
              <a:t>turn</a:t>
            </a:r>
            <a:r>
              <a:rPr lang="en-US" sz="1388" dirty="0">
                <a:solidFill>
                  <a:srgbClr val="333333"/>
                </a:solidFill>
              </a:rPr>
              <a:t> </a:t>
            </a:r>
            <a:r>
              <a:rPr sz="1388" dirty="0">
                <a:solidFill>
                  <a:srgbClr val="333333"/>
                </a:solidFill>
              </a:rPr>
              <a:t>abstract polic</a:t>
            </a:r>
            <a:r>
              <a:rPr lang="en-US" sz="1388" dirty="0">
                <a:solidFill>
                  <a:srgbClr val="333333"/>
                </a:solidFill>
              </a:rPr>
              <a:t>ies</a:t>
            </a:r>
            <a:r>
              <a:rPr sz="1388" dirty="0">
                <a:solidFill>
                  <a:srgbClr val="333333"/>
                </a:solidFill>
              </a:rPr>
              <a:t> into everyday behavior.</a:t>
            </a:r>
          </a:p>
        </p:txBody>
      </p:sp>
      <p:sp>
        <p:nvSpPr>
          <p:cNvPr id="4" name="visible-slide-number-7">
            <a:extLst>
              <a:ext uri="{FF2B5EF4-FFF2-40B4-BE49-F238E27FC236}">
                <a16:creationId xmlns:a16="http://schemas.microsoft.com/office/drawing/2014/main" id="{C43741CD-6ECB-404C-BB96-519DAF8E8E8C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Weak Follow-Through Can Reduce Learning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Teams may postpone post-incident reviews because they must return immediately to planned development work.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Reconstructing timelines from logs, alerts, messages, and deployment records can require significant time.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Poor documentation or missing telemetry may prevent the team from understanding what actually occurred.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Corrective actions may be recorded but never completed because urgent feature work receives higher priority.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Repeated incidents can make employees view retrospectives as paperwork rather than meaningful improvement.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endParaRPr sz="1388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333333"/>
                </a:solidFill>
              </a:defRPr>
            </a:pPr>
            <a:r>
              <a:rPr sz="1388" dirty="0">
                <a:solidFill>
                  <a:srgbClr val="333333"/>
                </a:solidFill>
              </a:rPr>
              <a:t>• Reviews need clear owners, completion dates, centralized records, and leadership support for improvement work.</a:t>
            </a:r>
          </a:p>
        </p:txBody>
      </p:sp>
      <p:sp>
        <p:nvSpPr>
          <p:cNvPr id="4" name="visible-slide-number-8">
            <a:extLst>
              <a:ext uri="{FF2B5EF4-FFF2-40B4-BE49-F238E27FC236}">
                <a16:creationId xmlns:a16="http://schemas.microsoft.com/office/drawing/2014/main" id="{DA2A0DF9-F45E-467F-85C9-9270F0A5C409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Barriers Can Break the Organizational Learning Loop</a:t>
            </a:r>
          </a:p>
        </p:txBody>
      </p:sp>
      <p:sp>
        <p:nvSpPr>
          <p:cNvPr id="4" name="diagram-introduction">
            <a:extLst>
              <a:ext uri="{FF2B5EF4-FFF2-40B4-BE49-F238E27FC236}">
                <a16:creationId xmlns:a16="http://schemas.microsoft.com/office/drawing/2014/main" id="{44F1E4C7-7278-4BC4-A40B-35FF8E795686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788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422E61"/>
                </a:solidFill>
              </a:defRPr>
            </a:pPr>
            <a:r>
              <a:rPr sz="1350" b="1">
                <a:solidFill>
                  <a:srgbClr val="422E61"/>
                </a:solidFill>
              </a:rPr>
              <a:t>A just culture depends on a repeatable process that turns incidents into safer systems.</a:t>
            </a:r>
          </a:p>
        </p:txBody>
      </p:sp>
      <p:sp>
        <p:nvSpPr>
          <p:cNvPr id="5" name="escalation-card-1">
            <a:extLst>
              <a:ext uri="{FF2B5EF4-FFF2-40B4-BE49-F238E27FC236}">
                <a16:creationId xmlns:a16="http://schemas.microsoft.com/office/drawing/2014/main" id="{5B89AE53-86C4-4845-AB29-A9171AE7A1C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/>
              <a:t>Incident or Close Call</a:t>
            </a:r>
            <a:r>
              <a:t>  A failure or near miss creates an opportunity to learn.</a:t>
            </a:r>
          </a:p>
        </p:txBody>
      </p:sp>
      <p:sp>
        <p:nvSpPr>
          <p:cNvPr id="6" name="escalation-card-2">
            <a:extLst>
              <a:ext uri="{FF2B5EF4-FFF2-40B4-BE49-F238E27FC236}">
                <a16:creationId xmlns:a16="http://schemas.microsoft.com/office/drawing/2014/main" id="{DCF4A3BA-621B-43AC-9908-CDB8733D6420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/>
              <a:t>Open Reporting</a:t>
            </a:r>
            <a:r>
              <a:t>  Fear and blame can cause employees to hide details or remain silent.</a:t>
            </a:r>
          </a:p>
        </p:txBody>
      </p:sp>
      <p:sp>
        <p:nvSpPr>
          <p:cNvPr id="7" name="escalation-card-3">
            <a:extLst>
              <a:ext uri="{FF2B5EF4-FFF2-40B4-BE49-F238E27FC236}">
                <a16:creationId xmlns:a16="http://schemas.microsoft.com/office/drawing/2014/main" id="{CC6F7496-ABA8-410B-A58A-37F1DAE15EE0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/>
              <a:t>Fair Review</a:t>
            </a:r>
            <a:r>
              <a:t>  Inconsistent accountability can weaken trust in the process.</a:t>
            </a:r>
          </a:p>
        </p:txBody>
      </p:sp>
      <p:sp>
        <p:nvSpPr>
          <p:cNvPr id="8" name="escalation-card-4">
            <a:extLst>
              <a:ext uri="{FF2B5EF4-FFF2-40B4-BE49-F238E27FC236}">
                <a16:creationId xmlns:a16="http://schemas.microsoft.com/office/drawing/2014/main" id="{C74D30C8-2300-40E8-81DB-191B31AE8B33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7239000" cy="647700"/>
          </a:xfrm>
          <a:prstGeom prst="roundRect">
            <a:avLst>
              <a:gd name="adj" fmla="val 14706"/>
            </a:avLst>
          </a:prstGeom>
          <a:solidFill>
            <a:srgbClr val="F3EFF7"/>
          </a:solidFill>
          <a:ln w="11906">
            <a:solidFill>
              <a:srgbClr val="D9D0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552450" tIns="95250" rIns="152400" bIns="95250" anchor="ctr"/>
          <a:lstStyle/>
          <a:p>
            <a:r>
              <a:rPr b="1"/>
              <a:t>System Improvement</a:t>
            </a:r>
            <a:r>
              <a:t>  Unfinished corrective actions prevent learning from becoming change.</a:t>
            </a:r>
          </a:p>
        </p:txBody>
      </p:sp>
      <p:cxnSp>
        <p:nvCxnSpPr>
          <p:cNvPr id="42" name="Straight Arrow Connector 23"/>
          <p:cNvCxnSpPr>
            <a:stCxn id="5" idx="2"/>
            <a:endCxn id="6" idx="0"/>
          </p:cNvCxnSpPr>
          <p:nvPr/>
        </p:nvCxnSpPr>
        <p:spPr>
          <a:xfrm>
            <a:off x="4572000" y="24574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cxnSp>
        <p:nvCxnSpPr>
          <p:cNvPr id="43" name="Straight Arrow Connector 24"/>
          <p:cNvCxnSpPr>
            <a:stCxn id="6" idx="2"/>
            <a:endCxn id="7" idx="0"/>
          </p:cNvCxnSpPr>
          <p:nvPr/>
        </p:nvCxnSpPr>
        <p:spPr>
          <a:xfrm>
            <a:off x="4572000" y="32956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cxnSp>
        <p:nvCxnSpPr>
          <p:cNvPr id="44" name="Straight Arrow Connector 25"/>
          <p:cNvCxnSpPr>
            <a:stCxn id="7" idx="2"/>
            <a:endCxn id="8" idx="0"/>
          </p:cNvCxnSpPr>
          <p:nvPr/>
        </p:nvCxnSpPr>
        <p:spPr>
          <a:xfrm>
            <a:off x="4572000" y="4133850"/>
            <a:ext cx="0" cy="190500"/>
          </a:xfrm>
          <a:prstGeom prst="straightConnector1">
            <a:avLst/>
          </a:prstGeom>
          <a:ln w="19050">
            <a:solidFill>
              <a:srgbClr val="4F3775"/>
            </a:solidFill>
            <a:prstDash val="solid"/>
            <a:tailEnd type="triangle" w="sm" len="sm"/>
          </a:ln>
        </p:spPr>
      </p:cxnSp>
      <p:sp>
        <p:nvSpPr>
          <p:cNvPr id="12" name="escalation-step-1">
            <a:extLst>
              <a:ext uri="{FF2B5EF4-FFF2-40B4-BE49-F238E27FC236}">
                <a16:creationId xmlns:a16="http://schemas.microsoft.com/office/drawing/2014/main" id="{C947EBDD-FBC8-4EC5-971B-7A6836DB42E7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escalation-step-2">
            <a:extLst>
              <a:ext uri="{FF2B5EF4-FFF2-40B4-BE49-F238E27FC236}">
                <a16:creationId xmlns:a16="http://schemas.microsoft.com/office/drawing/2014/main" id="{D24FFF76-C1ED-4161-A370-439B5B4ED9FC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escalation-step-3">
            <a:extLst>
              <a:ext uri="{FF2B5EF4-FFF2-40B4-BE49-F238E27FC236}">
                <a16:creationId xmlns:a16="http://schemas.microsoft.com/office/drawing/2014/main" id="{CD878616-EA31-4CD9-9AAA-D1B5FED658DB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escalation-step-4">
            <a:extLst>
              <a:ext uri="{FF2B5EF4-FFF2-40B4-BE49-F238E27FC236}">
                <a16:creationId xmlns:a16="http://schemas.microsoft.com/office/drawing/2014/main" id="{5344D83B-B6AD-4174-B988-7EA95ADB905B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381000" cy="381000"/>
          </a:xfrm>
          <a:prstGeom prst="ellipse">
            <a:avLst/>
          </a:prstGeom>
          <a:solidFill>
            <a:srgbClr val="D0A427"/>
          </a:solidFill>
          <a:ln w="9525">
            <a:solidFill>
              <a:srgbClr val="D0A42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diagram-closing-statement">
            <a:extLst>
              <a:ext uri="{FF2B5EF4-FFF2-40B4-BE49-F238E27FC236}">
                <a16:creationId xmlns:a16="http://schemas.microsoft.com/office/drawing/2014/main" id="{AB4DB324-39E4-4ECC-BDA9-C43CAE1DD901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52400" tIns="38100" rIns="152400" bIns="38100" anchor="ctr"/>
          <a:lstStyle/>
          <a:p>
            <a:pPr algn="ctr">
              <a:buNone/>
              <a:defRPr sz="1200" i="1">
                <a:solidFill>
                  <a:srgbClr val="422E61"/>
                </a:solidFill>
              </a:defRPr>
            </a:pPr>
            <a:r>
              <a:rPr sz="1200" i="1">
                <a:solidFill>
                  <a:srgbClr val="422E61"/>
                </a:solidFill>
              </a:rPr>
              <a:t>Visible improvements strengthen trust and make employees more willing to report future problems.</a:t>
            </a:r>
          </a:p>
        </p:txBody>
      </p:sp>
      <p:sp>
        <p:nvSpPr>
          <p:cNvPr id="17" name="visible-slide-number-4">
            <a:extLst>
              <a:ext uri="{FF2B5EF4-FFF2-40B4-BE49-F238E27FC236}">
                <a16:creationId xmlns:a16="http://schemas.microsoft.com/office/drawing/2014/main" id="{8DC55C5F-D219-4E0A-A89C-F614EE56C2C8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DAE9-5376-4606-8AF5-1EA09797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550">
                <a:solidFill>
                  <a:srgbClr val="4F3775"/>
                </a:solidFill>
              </a:defRPr>
            </a:pPr>
            <a:r>
              <a:rPr sz="2550">
                <a:solidFill>
                  <a:srgbClr val="4F3775"/>
                </a:solidFill>
              </a:rPr>
              <a:t>Consistent Practice Turns Policy into Culture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70F73-B2F9-4FAE-B828-6BE5984AA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38100" tIns="38100" rIns="38100" bIns="38100" anchor="ctr"/>
          <a:lstStyle/>
          <a:p>
            <a:pPr>
              <a:buNone/>
              <a:defRPr sz="1575" b="1">
                <a:solidFill>
                  <a:srgbClr val="4F3775"/>
                </a:solidFill>
              </a:defRPr>
            </a:pPr>
            <a:r>
              <a:rPr sz="1575" b="1" dirty="0">
                <a:solidFill>
                  <a:srgbClr val="4F3775"/>
                </a:solidFill>
              </a:rPr>
              <a:t>Barriers to Overcome</a:t>
            </a:r>
            <a:r>
              <a:rPr lang="en-US" sz="1575" b="1" dirty="0">
                <a:solidFill>
                  <a:srgbClr val="4F3775"/>
                </a:solidFill>
              </a:rPr>
              <a:t>:</a:t>
            </a:r>
            <a:endParaRPr sz="1575" b="1" dirty="0">
              <a:solidFill>
                <a:srgbClr val="4F3775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E1497-6578-4613-9FE8-EB3AA39A309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2508251"/>
          </a:xfrm>
        </p:spPr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Fear caused by previous punishment.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Confusion between fairness and no accountability.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Inconsistent management decisions.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Limited training and communication.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Insufficient time for reviews and improvements.</a:t>
            </a: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5000"/>
              </a:lnSpc>
              <a:spcAft>
                <a:spcPts val="9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Corrective actions that remain unfinished.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9C319-651B-4CCF-B906-C5B6BFC6D9B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lIns="38100" tIns="38100" rIns="38100" bIns="38100" anchor="ctr"/>
          <a:lstStyle/>
          <a:p>
            <a:pPr>
              <a:buNone/>
              <a:defRPr sz="1575" b="1">
                <a:solidFill>
                  <a:srgbClr val="4F3775"/>
                </a:solidFill>
              </a:defRPr>
            </a:pPr>
            <a:r>
              <a:rPr sz="1575" b="1" dirty="0">
                <a:solidFill>
                  <a:srgbClr val="4F3775"/>
                </a:solidFill>
              </a:rPr>
              <a:t>Practices That Build Trust</a:t>
            </a:r>
            <a:r>
              <a:rPr lang="en-US" sz="1575" b="1" dirty="0">
                <a:solidFill>
                  <a:srgbClr val="4F3775"/>
                </a:solidFill>
              </a:rPr>
              <a:t>:</a:t>
            </a:r>
            <a:endParaRPr sz="1575" b="1" dirty="0">
              <a:solidFill>
                <a:srgbClr val="4F3775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C583E-E676-40BD-B141-DEDD20D98BF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2508251"/>
          </a:xfrm>
        </p:spPr>
        <p:txBody>
          <a:bodyPr lIns="66675" tIns="47625" rIns="66675" bIns="47625" anchor="t">
            <a:normAutofit/>
          </a:bodyPr>
          <a:lstStyle/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Respond fairly to honest mistakes.</a:t>
            </a: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Define unacceptable behavior clearly.</a:t>
            </a: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Train leaders and employees.</a:t>
            </a: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Conduct blameless, evidence-based reviews.</a:t>
            </a: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Assign owners and dates to improvements.</a:t>
            </a:r>
          </a:p>
          <a:p>
            <a:pPr algn="l">
              <a:lnSpc>
                <a:spcPct val="103000"/>
              </a:lnSpc>
              <a:spcAft>
                <a:spcPts val="6"/>
              </a:spcAft>
              <a:buNone/>
              <a:defRPr sz="1313">
                <a:solidFill>
                  <a:srgbClr val="333333"/>
                </a:solidFill>
              </a:defRPr>
            </a:pPr>
            <a:endParaRPr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Bef>
                <a:spcPts val="10"/>
              </a:spcBef>
              <a:buNone/>
              <a:defRPr sz="1313">
                <a:solidFill>
                  <a:srgbClr val="333333"/>
                </a:solidFill>
              </a:defRPr>
            </a:pPr>
            <a:r>
              <a:rPr sz="1313" dirty="0">
                <a:solidFill>
                  <a:srgbClr val="333333"/>
                </a:solidFill>
              </a:rPr>
              <a:t>• Share lessons throughout the organization.</a:t>
            </a:r>
            <a:endParaRPr lang="en-US" sz="1313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Bef>
                <a:spcPts val="10"/>
              </a:spcBef>
              <a:buNone/>
              <a:defRPr sz="1313">
                <a:solidFill>
                  <a:srgbClr val="333333"/>
                </a:solidFill>
              </a:defRPr>
            </a:pPr>
            <a:endParaRPr sz="1313" i="1" dirty="0">
              <a:solidFill>
                <a:srgbClr val="333333"/>
              </a:solidFill>
            </a:endParaRPr>
          </a:p>
          <a:p>
            <a:pPr algn="l">
              <a:lnSpc>
                <a:spcPct val="103000"/>
              </a:lnSpc>
              <a:spcBef>
                <a:spcPts val="10"/>
              </a:spcBef>
              <a:buNone/>
              <a:defRPr sz="1313">
                <a:solidFill>
                  <a:srgbClr val="333333"/>
                </a:solidFill>
              </a:defRPr>
            </a:pPr>
            <a:endParaRPr sz="1313" b="1" i="1" dirty="0">
              <a:solidFill>
                <a:srgbClr val="333333"/>
              </a:solidFill>
            </a:endParaRPr>
          </a:p>
        </p:txBody>
      </p:sp>
      <p:sp>
        <p:nvSpPr>
          <p:cNvPr id="7" name="visible-slide-number-9">
            <a:extLst>
              <a:ext uri="{FF2B5EF4-FFF2-40B4-BE49-F238E27FC236}">
                <a16:creationId xmlns:a16="http://schemas.microsoft.com/office/drawing/2014/main" id="{E5D1BFF3-4A33-4083-A361-0B89A39ACDD4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44F73-8147-681A-4D9F-3B74EC17822F}"/>
              </a:ext>
            </a:extLst>
          </p:cNvPr>
          <p:cNvSpPr txBox="1"/>
          <p:nvPr/>
        </p:nvSpPr>
        <p:spPr>
          <a:xfrm>
            <a:off x="495300" y="5070764"/>
            <a:ext cx="8191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333333"/>
                </a:solidFill>
              </a:rPr>
              <a:t>A just culture develops when honest reporting consistently leads to fair treatment, meaningful learning, and safer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79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570A4-8C98-49E2-9DAC-6A487F74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100" tIns="28575" rIns="38100" bIns="28575" anchor="ctr">
            <a:normAutofit/>
          </a:bodyPr>
          <a:lstStyle/>
          <a:p>
            <a:pPr>
              <a:buNone/>
              <a:defRPr sz="2700">
                <a:solidFill>
                  <a:srgbClr val="4F3775"/>
                </a:solidFill>
              </a:defRPr>
            </a:pPr>
            <a:r>
              <a:rPr sz="2700">
                <a:solidFill>
                  <a:srgbClr val="4F3775"/>
                </a:solidFill>
              </a:rPr>
              <a:t>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B34EA-D2BF-4987-AB1E-0101D77E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66675" tIns="38100" rIns="66675" bIns="38100" anchor="t">
            <a:normAutofit/>
          </a:bodyPr>
          <a:lstStyle/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sz="1350" dirty="0">
                <a:solidFill>
                  <a:srgbClr val="333333"/>
                </a:solidFill>
              </a:rPr>
              <a:t>• Kim, G., Humble, J., Debois, P., &amp; Willis, J. (2021). The DevOps handbook: How to create world-class agility, reliability, &amp; security in technology organizations (2nd ed.). Simon &amp; Schuster.</a:t>
            </a: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endParaRPr sz="1350" dirty="0">
              <a:solidFill>
                <a:srgbClr val="333333"/>
              </a:solidFill>
            </a:endParaRP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sz="1350" dirty="0">
                <a:solidFill>
                  <a:srgbClr val="333333"/>
                </a:solidFill>
              </a:rPr>
              <a:t>• Lunney, J., &amp; Lueder, S. (2016). Postmortem culture: Learning from failure. In B. Beyer, C. Jones, J. </a:t>
            </a:r>
            <a:r>
              <a:rPr sz="1350" dirty="0" err="1">
                <a:solidFill>
                  <a:srgbClr val="333333"/>
                </a:solidFill>
              </a:rPr>
              <a:t>Petoff</a:t>
            </a:r>
            <a:r>
              <a:rPr sz="1350" dirty="0">
                <a:solidFill>
                  <a:srgbClr val="333333"/>
                </a:solidFill>
              </a:rPr>
              <a:t>, &amp; N. R. Murphy (Eds.), Site reliability engineering. O’Reilly Media.</a:t>
            </a:r>
            <a:r>
              <a:rPr lang="en-US" sz="1350" dirty="0">
                <a:solidFill>
                  <a:srgbClr val="333333"/>
                </a:solidFill>
              </a:rPr>
              <a:t> </a:t>
            </a:r>
            <a:r>
              <a:rPr dirty="0"/>
              <a:t>https://sre.google/sre-book/postmortem-culture/</a:t>
            </a: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dirty="0"/>
              <a:t>• Rogers, D., </a:t>
            </a:r>
            <a:r>
              <a:rPr dirty="0" err="1"/>
              <a:t>Suriar</a:t>
            </a:r>
            <a:r>
              <a:rPr dirty="0"/>
              <a:t>, M., Lueder, S., Deo, P., &amp; Sudhakar, D. (2018). Postmortem culture: Learning from failure. In The site reliability workbook. O’Reilly Media.</a:t>
            </a:r>
            <a:r>
              <a:rPr lang="en-US" dirty="0"/>
              <a:t> </a:t>
            </a:r>
            <a:r>
              <a:rPr dirty="0"/>
              <a:t>https://sre.google/workbook/postmortem-culture/</a:t>
            </a:r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8"/>
              </a:spcAft>
              <a:buNone/>
              <a:defRPr sz="1350">
                <a:solidFill>
                  <a:srgbClr val="333333"/>
                </a:solidFill>
              </a:defRPr>
            </a:pPr>
            <a:r>
              <a:rPr dirty="0"/>
              <a:t>• Murray, J. S., Lee, J., Larson, S., Range, A., Scott, D., &amp; Clifford, J. (2023). Requirements for implementing a ‘just culture’ within healthcare organisations: An integrative review. BMJ Open Quality, 12(2), e002237.</a:t>
            </a:r>
            <a:r>
              <a:rPr lang="en-US" dirty="0"/>
              <a:t> </a:t>
            </a:r>
            <a:r>
              <a:rPr dirty="0"/>
              <a:t>https://bmjopenquality.bmj.com/content/12/2/e002237</a:t>
            </a:r>
          </a:p>
        </p:txBody>
      </p:sp>
      <p:sp>
        <p:nvSpPr>
          <p:cNvPr id="4" name="visible-slide-number-10">
            <a:extLst>
              <a:ext uri="{FF2B5EF4-FFF2-40B4-BE49-F238E27FC236}">
                <a16:creationId xmlns:a16="http://schemas.microsoft.com/office/drawing/2014/main" id="{CC8A6CFD-4EB9-4017-AD3D-7313B4B7035F}"/>
              </a:ext>
            </a:extLst>
          </p:cNvPr>
          <p:cNvSpPr>
            <a:spLocks noGrp="1"/>
          </p:cNvSpPr>
          <p:nvPr/>
        </p:nvSpPr>
        <p:spPr>
          <a:xfrm>
            <a:off x="495300" y="6429375"/>
            <a:ext cx="342900" cy="209550"/>
          </a:xfrm>
          <a:prstGeom prst="rect">
            <a:avLst/>
          </a:prstGeom>
          <a:solidFill>
            <a:srgbClr val="4F3775"/>
          </a:solidFill>
          <a:ln w="0">
            <a:solidFill>
              <a:srgbClr val="4F3775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32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1211</Words>
  <Application>Microsoft Office PowerPoint</Application>
  <DocSecurity>0</DocSecurity>
  <PresentationFormat>On-screen Show (4:3)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Barriers to a Just, Learning Culture</vt:lpstr>
      <vt:lpstr>A Just Culture Balances Learning and Accountability</vt:lpstr>
      <vt:lpstr>A History of Blame Creates Fear and Underreporting</vt:lpstr>
      <vt:lpstr>Fair Accountability Is Difficult to Apply Consistently</vt:lpstr>
      <vt:lpstr>Leadership Actions Must Match the Policy</vt:lpstr>
      <vt:lpstr>Training and Communication Must Reach Everyone</vt:lpstr>
      <vt:lpstr>Weak Follow-Through Can Reduce Learning</vt:lpstr>
      <vt:lpstr>Barriers Can Break the Organizational Learning Loop</vt:lpstr>
      <vt:lpstr>Consistent Practice Turns Policy into Culture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Wade Eckert</cp:lastModifiedBy>
  <cp:revision>6</cp:revision>
  <dcterms:created xsi:type="dcterms:W3CDTF">2026-08-02T23:57:55Z</dcterms:created>
  <dcterms:modified xsi:type="dcterms:W3CDTF">2026-08-03T00:20:21Z</dcterms:modified>
</cp:coreProperties>
</file>