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83" autoAdjust="0"/>
  </p:normalViewPr>
  <p:slideViewPr>
    <p:cSldViewPr snapToGrid="0" snapToObjects="1">
      <p:cViewPr varScale="1">
        <p:scale>
          <a:sx n="112" d="100"/>
          <a:sy n="112" d="100"/>
        </p:scale>
        <p:origin x="15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2E2000A8-AB4E-43D3-A18B-4EAF48B7B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64640" y="3531196"/>
            <a:ext cx="4693557" cy="1687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1ED7FAA-591B-41B7-8C04-304798F3A8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4641" y="1740475"/>
            <a:ext cx="4693557" cy="1388236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5500">
                <a:solidFill>
                  <a:srgbClr val="533F7E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E44C2-D402-4494-826F-727C928A4AA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B25031F-6C24-4AC7-919E-B5A2F6310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32857"/>
            <a:ext cx="8229600" cy="4296457"/>
          </a:xfrm>
          <a:prstGeom prst="rect">
            <a:avLst/>
          </a:prstGeo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31D4D51E-8179-4C0E-B3DE-A0EF160DB1D5}"/>
              </a:ext>
            </a:extLst>
          </p:cNvPr>
          <p:cNvSpPr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l">
              <a:buNone/>
              <a:defRPr sz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fld id="{35642705-0869-5E41-BF54-4C6A6B6F7BB4}" type="slidenum">
              <a:rPr>
                <a:latin typeface="Arial"/>
                <a:ea typeface="Arial"/>
                <a:cs typeface="Arial"/>
              </a:rPr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CD36003-D8D5-47F4-A31E-3D8D58880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5443"/>
            <a:ext cx="8229600" cy="969466"/>
          </a:xfrm>
        </p:spPr>
        <p:txBody>
          <a:bodyPr anchor="b">
            <a:normAutofit/>
          </a:bodyPr>
          <a:lstStyle>
            <a:lvl1pPr algn="l">
              <a:buNone/>
              <a:defRPr sz="4400" b="0" i="0">
                <a:solidFill>
                  <a:srgbClr val="533F7E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Click to edit Master title style</a:t>
            </a:r>
          </a:p>
        </p:txBody>
      </p:sp>
      <p:pic>
        <p:nvPicPr>
          <p:cNvPr id="13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07826"/>
            <a:ext cx="8229600" cy="50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1302AE-CA9E-47BE-BC07-3F0E00E3B7D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92CA8AE-5F53-4FD7-84AB-A75CFCED3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5443"/>
            <a:ext cx="8229600" cy="969466"/>
          </a:xfrm>
        </p:spPr>
        <p:txBody>
          <a:bodyPr anchor="b">
            <a:normAutofit/>
          </a:bodyPr>
          <a:lstStyle>
            <a:lvl1pPr algn="l">
              <a:buNone/>
              <a:defRPr sz="4400" b="0" i="0">
                <a:solidFill>
                  <a:srgbClr val="533F7E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DF116A0-1B41-42CF-B8F2-64863E36B08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132073"/>
            <a:ext cx="8229600" cy="38726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C57B342-CA0A-4CA0-B5AA-87278DED7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32857"/>
            <a:ext cx="8229600" cy="4296457"/>
          </a:xfrm>
          <a:prstGeom prst="rect">
            <a:avLst/>
          </a:prstGeo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A73955B8-2E03-4CFE-BCBA-4DBDF35F80EF}"/>
              </a:ext>
            </a:extLst>
          </p:cNvPr>
          <p:cNvSpPr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l">
              <a:buNone/>
              <a:defRPr sz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fld id="{35642705-0869-5E41-BF54-4C6A6B6F7BB4}" type="slidenum">
              <a:rPr>
                <a:latin typeface="Arial"/>
                <a:ea typeface="Arial"/>
                <a:cs typeface="Arial"/>
              </a:rPr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43587"/>
            <a:ext cx="8229600" cy="50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E1E3-4081-47AE-A55D-7DD064309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140CB-684A-40DB-BB21-EE9AC2DD0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B20C3-A56D-4FA4-A63C-8D2AC6A086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E2E89E3-9012-754D-ACFE-6D3D94DB23F1}" type="datetimeFigureOut">
              <a:t>7/26/2026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47479-56BE-46C3-9AA6-BEA79E356DA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C173B-7D26-4010-A318-1D4B18668D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A94F592-7035-BC42-B961-96A5B059A85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9386ED-87BE-45D0-A90C-C2C3E16F3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marL="0" algn="l">
              <a:buNone/>
              <a:defRPr sz="4400" b="0" i="0">
                <a:solidFill>
                  <a:srgbClr val="533F7E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B96B1-9A2D-45D0-B282-6D1C81A59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latin typeface="Arial"/>
                <a:ea typeface="Arial"/>
                <a:cs typeface="Arial"/>
              </a:defRPr>
            </a:lvl1pPr>
            <a:lvl2pPr>
              <a:buNone/>
              <a:defRPr sz="2400">
                <a:latin typeface="Arial"/>
                <a:ea typeface="Arial"/>
                <a:cs typeface="Arial"/>
              </a:defRPr>
            </a:lvl2pPr>
            <a:lvl3pPr>
              <a:buNone/>
              <a:defRPr sz="2000">
                <a:latin typeface="Arial"/>
                <a:ea typeface="Arial"/>
                <a:cs typeface="Arial"/>
              </a:defRPr>
            </a:lvl3pPr>
            <a:lvl4pPr>
              <a:buNone/>
              <a:defRPr sz="1800">
                <a:latin typeface="Arial"/>
                <a:ea typeface="Arial"/>
                <a:cs typeface="Arial"/>
              </a:defRPr>
            </a:lvl4pPr>
            <a:lvl5pPr>
              <a:buNone/>
              <a:defRPr sz="1800">
                <a:latin typeface="Arial"/>
                <a:ea typeface="Arial"/>
                <a:cs typeface="Arial"/>
              </a:defRPr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B2B46D-C03B-4D37-AA09-AD057030749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latin typeface="Arial"/>
                <a:ea typeface="Arial"/>
                <a:cs typeface="Arial"/>
              </a:defRPr>
            </a:lvl1pPr>
            <a:lvl2pPr>
              <a:buNone/>
              <a:defRPr sz="2400">
                <a:latin typeface="Arial"/>
                <a:ea typeface="Arial"/>
                <a:cs typeface="Arial"/>
              </a:defRPr>
            </a:lvl2pPr>
            <a:lvl3pPr>
              <a:buNone/>
              <a:defRPr sz="2000">
                <a:latin typeface="Arial"/>
                <a:ea typeface="Arial"/>
                <a:cs typeface="Arial"/>
              </a:defRPr>
            </a:lvl3pPr>
            <a:lvl4pPr>
              <a:buNone/>
              <a:defRPr sz="1800">
                <a:latin typeface="Arial"/>
                <a:ea typeface="Arial"/>
                <a:cs typeface="Arial"/>
              </a:defRPr>
            </a:lvl4pPr>
            <a:lvl5pPr>
              <a:buNone/>
              <a:defRPr sz="1800">
                <a:latin typeface="Arial"/>
                <a:ea typeface="Arial"/>
                <a:cs typeface="Arial"/>
              </a:defRPr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6F69A-AA4F-44DD-8036-5416DBA28B7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E631986-11DB-4BF8-ADC8-70C64BF8F168}"/>
              </a:ext>
            </a:extLst>
          </p:cNvPr>
          <p:cNvSpPr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l">
              <a:buNone/>
              <a:defRPr sz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fld id="{35642705-0869-5E41-BF54-4C6A6B6F7BB4}" type="slidenum">
              <a:rPr>
                <a:latin typeface="Arial"/>
                <a:ea typeface="Arial"/>
                <a:cs typeface="Arial"/>
              </a:rPr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  <p:pic>
        <p:nvPicPr>
          <p:cNvPr id="13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07826"/>
            <a:ext cx="8229600" cy="50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06DF2F-0E88-4F7F-9273-9C03287BF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FE918-0078-4ECC-A672-6C425B0F9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F518E8-408A-44C5-B952-3536F6DC397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F863D9-D954-47BF-A4CB-F86386D56AB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0BAFAB-2DB9-4219-A43D-F1778EB5E1D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latin typeface="Arial"/>
                <a:ea typeface="Arial"/>
                <a:cs typeface="Arial"/>
              </a:defRPr>
            </a:lvl1pPr>
            <a:lvl2pPr>
              <a:buNone/>
              <a:defRPr sz="2000">
                <a:latin typeface="Arial"/>
                <a:ea typeface="Arial"/>
                <a:cs typeface="Arial"/>
              </a:defRPr>
            </a:lvl2pPr>
            <a:lvl3pPr>
              <a:buNone/>
              <a:defRPr sz="1800">
                <a:latin typeface="Arial"/>
                <a:ea typeface="Arial"/>
                <a:cs typeface="Arial"/>
              </a:defRPr>
            </a:lvl3pPr>
            <a:lvl4pPr>
              <a:buNone/>
              <a:defRPr sz="1600">
                <a:latin typeface="Arial"/>
                <a:ea typeface="Arial"/>
                <a:cs typeface="Arial"/>
              </a:defRPr>
            </a:lvl4pPr>
            <a:lvl5pPr>
              <a:buNone/>
              <a:defRPr sz="1600">
                <a:latin typeface="Arial"/>
                <a:ea typeface="Arial"/>
                <a:cs typeface="Arial"/>
              </a:defRPr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25CC4E-1671-4A4F-A012-0F86F41B9DD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45991CCA-741B-4AFD-8629-EC189D98F855}"/>
              </a:ext>
            </a:extLst>
          </p:cNvPr>
          <p:cNvSpPr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l">
              <a:buNone/>
              <a:defRPr sz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fld id="{35642705-0869-5E41-BF54-4C6A6B6F7BB4}" type="slidenum">
              <a:rPr>
                <a:latin typeface="Arial"/>
                <a:ea typeface="Arial"/>
                <a:cs typeface="Arial"/>
              </a:rPr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  <p:pic>
        <p:nvPicPr>
          <p:cNvPr id="13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07826"/>
            <a:ext cx="8229600" cy="50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79D27BB-3BC3-49A8-8818-757B9860D6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4641" y="2564887"/>
            <a:ext cx="4693557" cy="1388236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5500">
                <a:solidFill>
                  <a:srgbClr val="533F7E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1AB3FB-F3AE-415E-B942-43E77FA767E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E2E89E3-9012-754D-ACFE-6D3D94DB23F1}" type="datetimeFigureOut">
              <a:t>7/26/2026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5D46D-2865-42C8-AA25-969D44FD2C6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D93EF-5FCC-43B3-A8F9-03E70DE4A6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A94F592-7035-BC42-B961-96A5B059A85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FA5B0-A929-47EC-B995-54EAA404F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F6066-AFAD-4E8C-8946-F3B5E89F7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buNone/>
              <a:defRPr sz="3200">
                <a:latin typeface="Arial"/>
                <a:ea typeface="Arial"/>
                <a:cs typeface="Arial"/>
              </a:defRPr>
            </a:lvl1pPr>
            <a:lvl2pPr>
              <a:buNone/>
              <a:defRPr sz="2800">
                <a:latin typeface="Arial"/>
                <a:ea typeface="Arial"/>
                <a:cs typeface="Arial"/>
              </a:defRPr>
            </a:lvl2pPr>
            <a:lvl3pPr>
              <a:buNone/>
              <a:defRPr sz="2400">
                <a:latin typeface="Arial"/>
                <a:ea typeface="Arial"/>
                <a:cs typeface="Arial"/>
              </a:defRPr>
            </a:lvl3pPr>
            <a:lvl4pPr>
              <a:buNone/>
              <a:defRPr sz="2000">
                <a:latin typeface="Arial"/>
                <a:ea typeface="Arial"/>
                <a:cs typeface="Arial"/>
              </a:defRPr>
            </a:lvl4pPr>
            <a:lvl5pPr>
              <a:buNone/>
              <a:defRPr sz="2000">
                <a:latin typeface="Arial"/>
                <a:ea typeface="Arial"/>
                <a:cs typeface="Arial"/>
              </a:defRPr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70D1DE-F0C3-4225-A5F7-4B375DFB2CD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CDA26-13F8-432D-A1FD-940B52EC975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BD240FE2-1CEB-445D-BCD9-518128931745}"/>
              </a:ext>
            </a:extLst>
          </p:cNvPr>
          <p:cNvSpPr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l">
              <a:buNone/>
              <a:defRPr sz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fld id="{35642705-0869-5E41-BF54-4C6A6B6F7BB4}" type="slidenum">
              <a:rPr>
                <a:latin typeface="Arial"/>
                <a:ea typeface="Arial"/>
                <a:cs typeface="Arial"/>
              </a:rPr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1E0434-2F24-40C1-B4A0-25E9B3A19CB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E2E89E3-9012-754D-ACFE-6D3D94DB23F1}" type="datetimeFigureOut">
              <a:t>7/26/2026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3554E2-FA1D-45AE-A7B7-5063325DAE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8D7FE-ED31-4542-BF97-A59F6EFFF5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A94F592-7035-BC42-B961-96A5B059A85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D80BF-CAEE-4186-BEFB-377FBC8F296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E89E3-9012-754D-ACFE-6D3D94DB23F1}" type="datetimeFigureOut">
              <a:t>7/26/2026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4165C-3DCD-4BB6-B52D-3735C7E6AE4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F8C03-902C-4589-8900-1BC34B6822A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4F592-7035-BC42-B961-96A5B059A853}" type="slidenum">
              <a:t>‹#›</a:t>
            </a:fld>
            <a:endParaRPr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F0C4075D-A00B-494E-9127-FC7F00FED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/>
          <a:lstStyle/>
          <a:p>
            <a:pPr>
              <a:buNone/>
            </a:pPr>
            <a:r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D31F3DD-EAEA-4872-B986-230EBE6D9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ctr">
        <a:buNone/>
        <a:defRPr sz="4400" b="0" i="0">
          <a:solidFill>
            <a:srgbClr val="533F7E"/>
          </a:solidFill>
          <a:latin typeface="Arial"/>
          <a:ea typeface="Arial"/>
          <a:cs typeface="Arial"/>
        </a:defRPr>
      </a:lvl1pPr>
    </p:titleStyle>
    <p:bodyStyle>
      <a:lvl1pPr marL="342900" indent="-342900" algn="l">
        <a:buChar char="•"/>
        <a:defRPr sz="3200">
          <a:solidFill>
            <a:srgbClr val="3B413F"/>
          </a:solidFill>
        </a:defRPr>
      </a:lvl1pPr>
      <a:lvl2pPr marL="742950" indent="-285750" algn="l">
        <a:buChar char="–"/>
        <a:defRPr sz="2800">
          <a:solidFill>
            <a:srgbClr val="3B413F"/>
          </a:solidFill>
        </a:defRPr>
      </a:lvl2pPr>
      <a:lvl3pPr marL="1143000" indent="-228600" algn="l">
        <a:buChar char="•"/>
        <a:defRPr sz="2400">
          <a:solidFill>
            <a:srgbClr val="3B413F"/>
          </a:solidFill>
        </a:defRPr>
      </a:lvl3pPr>
      <a:lvl4pPr marL="1600200" indent="-228600" algn="l">
        <a:buChar char="–"/>
        <a:defRPr sz="2000">
          <a:solidFill>
            <a:srgbClr val="3B413F"/>
          </a:solidFill>
        </a:defRPr>
      </a:lvl4pPr>
      <a:lvl5pPr marL="2057400" indent="-228600" algn="l">
        <a:buChar char="»"/>
        <a:defRPr sz="2000">
          <a:solidFill>
            <a:srgbClr val="3B413F"/>
          </a:solidFill>
        </a:defRPr>
      </a:lvl5pPr>
      <a:lvl6pPr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gerduty.com/resources/incident-management-response/learn/call-rotations-schedules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re.google/sre-book/being-on-cal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FF53366-F6CE-4D2A-ACA2-C9486796C6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38100" tIns="28575" rIns="38100" bIns="28575" anchor="ctr">
            <a:normAutofit/>
          </a:bodyPr>
          <a:lstStyle/>
          <a:p>
            <a:pPr algn="ctr">
              <a:defRPr sz="3450">
                <a:solidFill>
                  <a:srgbClr val="4F3775"/>
                </a:solidFill>
              </a:defRPr>
            </a:pPr>
            <a:r>
              <a:rPr sz="3450">
                <a:solidFill>
                  <a:srgbClr val="4F3775"/>
                </a:solidFill>
              </a:rPr>
              <a:t>Pager Rotation Duties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E37EA8FA-554F-49A6-954A-0ED06870E6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lIns="38100" tIns="28575" rIns="38100" bIns="28575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350">
                <a:solidFill>
                  <a:srgbClr val="8A8A8A"/>
                </a:solidFill>
              </a:defRPr>
            </a:pPr>
            <a:r>
              <a:rPr sz="1350">
                <a:solidFill>
                  <a:srgbClr val="8A8A8A"/>
                </a:solidFill>
              </a:rPr>
              <a:t>Industry Best Practices in the DevOps Model</a:t>
            </a:r>
          </a:p>
          <a:p>
            <a:endParaRPr sz="1350">
              <a:solidFill>
                <a:srgbClr val="8A8A8A"/>
              </a:solidFill>
            </a:endParaRPr>
          </a:p>
          <a:p>
            <a:pPr algn="ctr">
              <a:lnSpc>
                <a:spcPct val="102000"/>
              </a:lnSpc>
              <a:buNone/>
              <a:defRPr sz="1350">
                <a:solidFill>
                  <a:srgbClr val="8A8A8A"/>
                </a:solidFill>
              </a:defRPr>
            </a:pPr>
            <a:r>
              <a:rPr sz="1350">
                <a:solidFill>
                  <a:srgbClr val="8A8A8A"/>
                </a:solidFill>
              </a:rPr>
              <a:t>Wade Eckert</a:t>
            </a:r>
          </a:p>
          <a:p>
            <a:pPr algn="ctr">
              <a:lnSpc>
                <a:spcPct val="102000"/>
              </a:lnSpc>
              <a:buNone/>
              <a:defRPr sz="1350">
                <a:solidFill>
                  <a:srgbClr val="8A8A8A"/>
                </a:solidFill>
              </a:defRPr>
            </a:pPr>
            <a:r>
              <a:rPr sz="1350">
                <a:solidFill>
                  <a:srgbClr val="8A8A8A"/>
                </a:solidFill>
              </a:rPr>
              <a:t>CSD380-T301 DevOps</a:t>
            </a:r>
          </a:p>
          <a:p>
            <a:pPr algn="ctr">
              <a:lnSpc>
                <a:spcPct val="102000"/>
              </a:lnSpc>
              <a:buNone/>
              <a:defRPr sz="1350">
                <a:solidFill>
                  <a:srgbClr val="8A8A8A"/>
                </a:solidFill>
              </a:defRPr>
            </a:pPr>
            <a:r>
              <a:rPr sz="1350">
                <a:solidFill>
                  <a:srgbClr val="8A8A8A"/>
                </a:solidFill>
              </a:rPr>
              <a:t>Bellevue University</a:t>
            </a:r>
          </a:p>
          <a:p>
            <a:pPr algn="ctr">
              <a:lnSpc>
                <a:spcPct val="102000"/>
              </a:lnSpc>
              <a:buNone/>
              <a:defRPr sz="1350">
                <a:solidFill>
                  <a:srgbClr val="8A8A8A"/>
                </a:solidFill>
              </a:defRPr>
            </a:pPr>
            <a:r>
              <a:rPr sz="1350">
                <a:solidFill>
                  <a:srgbClr val="8A8A8A"/>
                </a:solidFill>
              </a:rPr>
              <a:t>Module 7.2 Assignment</a:t>
            </a:r>
          </a:p>
          <a:p>
            <a:pPr algn="ctr">
              <a:lnSpc>
                <a:spcPct val="102000"/>
              </a:lnSpc>
              <a:buNone/>
              <a:defRPr sz="1350">
                <a:solidFill>
                  <a:srgbClr val="8A8A8A"/>
                </a:solidFill>
              </a:defRPr>
            </a:pPr>
            <a:r>
              <a:rPr sz="1350">
                <a:solidFill>
                  <a:srgbClr val="8A8A8A"/>
                </a:solidFill>
              </a:rP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1827697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3570A4-8C98-49E2-9DAC-6A487F74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100" tIns="28575" rIns="38100" bIns="28575" anchor="ctr">
            <a:normAutofit/>
          </a:bodyPr>
          <a:lstStyle/>
          <a:p>
            <a:pPr>
              <a:defRPr sz="2700">
                <a:solidFill>
                  <a:srgbClr val="4F3775"/>
                </a:solidFill>
              </a:defRPr>
            </a:pPr>
            <a:r>
              <a:rPr sz="2400" dirty="0">
                <a:solidFill>
                  <a:srgbClr val="4F3775"/>
                </a:solidFill>
              </a:rPr>
              <a:t>Pager Rotations Provide Structured Incident Coverage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2B34EA-D2BF-4987-AB1E-0101D77EB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66675" tIns="47625" rIns="66675" bIns="47625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r>
              <a:rPr sz="1500" dirty="0">
                <a:solidFill>
                  <a:srgbClr val="333333"/>
                </a:solidFill>
              </a:rPr>
              <a:t>• A pager rotation is a schedule that assigns responsibility for responding to production incidents during a defined period.</a:t>
            </a:r>
            <a:endParaRPr lang="en-US" sz="1500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endParaRPr sz="1500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r>
              <a:rPr sz="1500" dirty="0">
                <a:solidFill>
                  <a:srgbClr val="333333"/>
                </a:solidFill>
              </a:rPr>
              <a:t>• The on-call engineer receives alerts, assesses customer and system impact, investigates the cause, and begins restoring service.</a:t>
            </a:r>
            <a:endParaRPr lang="en-US" sz="1500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endParaRPr sz="1500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r>
              <a:rPr sz="1500" dirty="0">
                <a:solidFill>
                  <a:srgbClr val="333333"/>
                </a:solidFill>
              </a:rPr>
              <a:t>• Rotations provide continuous coverage without requiring one engineer or team to remain permanently responsible.</a:t>
            </a:r>
            <a:endParaRPr lang="en-US" sz="1500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endParaRPr sz="1500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r>
              <a:rPr sz="1500" dirty="0">
                <a:solidFill>
                  <a:srgbClr val="333333"/>
                </a:solidFill>
              </a:rPr>
              <a:t>• Modern paging typically uses automated notification platforms rather than physical pagers, but the purpose remains immediate incident response.</a:t>
            </a:r>
            <a:endParaRPr lang="en-US" sz="1500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endParaRPr sz="1500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r>
              <a:rPr sz="1500" dirty="0">
                <a:solidFill>
                  <a:srgbClr val="333333"/>
                </a:solidFill>
              </a:rPr>
              <a:t>• An effective rotation supports both service reliability and the people responsible for maintaining it.</a:t>
            </a:r>
          </a:p>
        </p:txBody>
      </p:sp>
      <p:sp>
        <p:nvSpPr>
          <p:cNvPr id="4" name="visible-slide-number-2">
            <a:extLst>
              <a:ext uri="{FF2B5EF4-FFF2-40B4-BE49-F238E27FC236}">
                <a16:creationId xmlns:a16="http://schemas.microsoft.com/office/drawing/2014/main" id="{EE8D11BE-43EB-4BF5-AD0C-81209DF0E81D}"/>
              </a:ext>
            </a:extLst>
          </p:cNvPr>
          <p:cNvSpPr>
            <a:spLocks noGrp="1"/>
          </p:cNvSpPr>
          <p:nvPr/>
        </p:nvSpPr>
        <p:spPr>
          <a:xfrm>
            <a:off x="495300" y="6429375"/>
            <a:ext cx="342900" cy="209550"/>
          </a:xfrm>
          <a:prstGeom prst="rect">
            <a:avLst/>
          </a:prstGeom>
          <a:solidFill>
            <a:srgbClr val="4F3775"/>
          </a:solidFill>
          <a:ln w="0">
            <a:solidFill>
              <a:srgbClr val="4F377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7325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3570A4-8C98-49E2-9DAC-6A487F74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100" tIns="28575" rIns="38100" bIns="28575" anchor="ctr">
            <a:normAutofit/>
          </a:bodyPr>
          <a:lstStyle/>
          <a:p>
            <a:pPr>
              <a:defRPr sz="2700">
                <a:solidFill>
                  <a:srgbClr val="4F3775"/>
                </a:solidFill>
              </a:defRPr>
            </a:pPr>
            <a:r>
              <a:rPr lang="en-US" sz="2200" dirty="0">
                <a:solidFill>
                  <a:srgbClr val="4F3775"/>
                </a:solidFill>
              </a:rPr>
              <a:t>Shared Pager Duty Extends DevOps Ownership into Production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2B34EA-D2BF-4987-AB1E-0101D77EB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66675" tIns="47625" rIns="66675" bIns="47625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r>
              <a:rPr sz="1500" dirty="0">
                <a:solidFill>
                  <a:srgbClr val="333333"/>
                </a:solidFill>
              </a:rPr>
              <a:t>• Traditional organizations often expect Operations to manage production problems created by upstream development decisions.</a:t>
            </a:r>
            <a:endParaRPr lang="en-US" sz="1500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endParaRPr sz="1500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r>
              <a:rPr sz="1500" dirty="0">
                <a:solidFill>
                  <a:srgbClr val="333333"/>
                </a:solidFill>
              </a:rPr>
              <a:t>• In a DevOps model, developers share responsibility for deploying, operating, and supporting the services they create.</a:t>
            </a:r>
            <a:endParaRPr lang="en-US" sz="1500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endParaRPr sz="1500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r>
              <a:rPr sz="1500" dirty="0">
                <a:solidFill>
                  <a:srgbClr val="333333"/>
                </a:solidFill>
              </a:rPr>
              <a:t>• Direct exposure to incidents shows developers how architectural, coding, and deployment decisions affect production.</a:t>
            </a:r>
            <a:endParaRPr lang="en-US" sz="1500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endParaRPr sz="1500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r>
              <a:rPr sz="1500" dirty="0">
                <a:solidFill>
                  <a:srgbClr val="333333"/>
                </a:solidFill>
              </a:rPr>
              <a:t>• This feedback encourages teams to improve monitoring, testing, documentation, </a:t>
            </a:r>
            <a:r>
              <a:rPr sz="1500" dirty="0" err="1">
                <a:solidFill>
                  <a:srgbClr val="333333"/>
                </a:solidFill>
              </a:rPr>
              <a:t>deployability</a:t>
            </a:r>
            <a:r>
              <a:rPr sz="1500" dirty="0">
                <a:solidFill>
                  <a:srgbClr val="333333"/>
                </a:solidFill>
              </a:rPr>
              <a:t>, and system resilience.</a:t>
            </a:r>
            <a:endParaRPr lang="en-US" sz="1500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endParaRPr sz="1500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r>
              <a:rPr sz="1500" dirty="0">
                <a:solidFill>
                  <a:srgbClr val="333333"/>
                </a:solidFill>
              </a:rPr>
              <a:t>• A feature should not be considered complete until it performs as intended in production without creating excessive operational work.</a:t>
            </a:r>
          </a:p>
        </p:txBody>
      </p:sp>
      <p:sp>
        <p:nvSpPr>
          <p:cNvPr id="4" name="visible-slide-number-3">
            <a:extLst>
              <a:ext uri="{FF2B5EF4-FFF2-40B4-BE49-F238E27FC236}">
                <a16:creationId xmlns:a16="http://schemas.microsoft.com/office/drawing/2014/main" id="{1532F333-1F33-4977-B820-0E05148E2E63}"/>
              </a:ext>
            </a:extLst>
          </p:cNvPr>
          <p:cNvSpPr>
            <a:spLocks noGrp="1"/>
          </p:cNvSpPr>
          <p:nvPr/>
        </p:nvSpPr>
        <p:spPr>
          <a:xfrm>
            <a:off x="495300" y="6429375"/>
            <a:ext cx="342900" cy="209550"/>
          </a:xfrm>
          <a:prstGeom prst="rect">
            <a:avLst/>
          </a:prstGeom>
          <a:solidFill>
            <a:srgbClr val="4F3775"/>
          </a:solidFill>
          <a:ln w="0">
            <a:solidFill>
              <a:srgbClr val="4F377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7325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3570A4-8C98-49E2-9DAC-6A487F74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100" tIns="28575" rIns="38100" bIns="28575" anchor="ctr">
            <a:normAutofit/>
          </a:bodyPr>
          <a:lstStyle/>
          <a:p>
            <a:pPr>
              <a:defRPr sz="2700">
                <a:solidFill>
                  <a:srgbClr val="4F3775"/>
                </a:solidFill>
              </a:defRPr>
            </a:pPr>
            <a:r>
              <a:rPr sz="2700">
                <a:solidFill>
                  <a:srgbClr val="4F3775"/>
                </a:solidFill>
              </a:rPr>
              <a:t>A Rotation Needs Clear Coverage and Escalation</a:t>
            </a:r>
          </a:p>
        </p:txBody>
      </p:sp>
      <p:sp>
        <p:nvSpPr>
          <p:cNvPr id="4" name="diagram-introduction">
            <a:extLst>
              <a:ext uri="{FF2B5EF4-FFF2-40B4-BE49-F238E27FC236}">
                <a16:creationId xmlns:a16="http://schemas.microsoft.com/office/drawing/2014/main" id="{44F1E4C7-7278-4BC4-A40B-35FF8E795686}"/>
              </a:ext>
            </a:extLst>
          </p:cNvPr>
          <p:cNvSpPr>
            <a:spLocks noGrp="1"/>
          </p:cNvSpPr>
          <p:nvPr/>
        </p:nvSpPr>
        <p:spPr>
          <a:xfrm>
            <a:off x="628650" y="1438275"/>
            <a:ext cx="788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422E61"/>
                </a:solidFill>
              </a:defRPr>
            </a:pPr>
            <a:r>
              <a:rPr sz="1350" b="1">
                <a:solidFill>
                  <a:srgbClr val="422E61"/>
                </a:solidFill>
              </a:rPr>
              <a:t>Effective rotations define responsibility and escalation paths before an incident occurs.</a:t>
            </a:r>
          </a:p>
        </p:txBody>
      </p:sp>
      <p:sp>
        <p:nvSpPr>
          <p:cNvPr id="5" name="escalation-card-1">
            <a:extLst>
              <a:ext uri="{FF2B5EF4-FFF2-40B4-BE49-F238E27FC236}">
                <a16:creationId xmlns:a16="http://schemas.microsoft.com/office/drawing/2014/main" id="{5B89AE53-86C4-4845-AB29-A9171AE7A1C3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7239000" cy="647700"/>
          </a:xfrm>
          <a:prstGeom prst="roundRect">
            <a:avLst>
              <a:gd name="adj" fmla="val 14706"/>
            </a:avLst>
          </a:prstGeom>
          <a:solidFill>
            <a:srgbClr val="F3EFF7"/>
          </a:solidFill>
          <a:ln w="11906">
            <a:solidFill>
              <a:srgbClr val="D9D0E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552450" tIns="95250" rIns="152400" bIns="95250" anchor="ctr"/>
          <a:lstStyle/>
          <a:p>
            <a:pPr algn="l"/>
            <a:r>
              <a:rPr sz="1350" b="1">
                <a:solidFill>
                  <a:srgbClr val="4F3775"/>
                </a:solidFill>
              </a:rPr>
              <a:t>Actionable Alert</a:t>
            </a:r>
            <a:r>
              <a:rPr sz="1200">
                <a:solidFill>
                  <a:srgbClr val="333333"/>
                </a:solidFill>
              </a:rPr>
              <a:t>  Monitoring identifies an urgent condition requiring human intervention.</a:t>
            </a:r>
          </a:p>
        </p:txBody>
      </p:sp>
      <p:sp>
        <p:nvSpPr>
          <p:cNvPr id="6" name="escalation-card-2">
            <a:extLst>
              <a:ext uri="{FF2B5EF4-FFF2-40B4-BE49-F238E27FC236}">
                <a16:creationId xmlns:a16="http://schemas.microsoft.com/office/drawing/2014/main" id="{DCF4A3BA-621B-43AC-9908-CDB8733D6420}"/>
              </a:ext>
            </a:extLst>
          </p:cNvPr>
          <p:cNvSpPr>
            <a:spLocks noGrp="1"/>
          </p:cNvSpPr>
          <p:nvPr/>
        </p:nvSpPr>
        <p:spPr>
          <a:xfrm>
            <a:off x="952500" y="2647950"/>
            <a:ext cx="7239000" cy="647700"/>
          </a:xfrm>
          <a:prstGeom prst="roundRect">
            <a:avLst>
              <a:gd name="adj" fmla="val 14706"/>
            </a:avLst>
          </a:prstGeom>
          <a:solidFill>
            <a:srgbClr val="F3EFF7"/>
          </a:solidFill>
          <a:ln w="11906">
            <a:solidFill>
              <a:srgbClr val="D9D0E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552450" tIns="95250" rIns="152400" bIns="95250" anchor="ctr"/>
          <a:lstStyle/>
          <a:p>
            <a:pPr algn="l"/>
            <a:r>
              <a:rPr sz="1350" b="1">
                <a:solidFill>
                  <a:srgbClr val="4F3775"/>
                </a:solidFill>
              </a:rPr>
              <a:t>Primary On-Call Engineer</a:t>
            </a:r>
            <a:r>
              <a:rPr sz="1200">
                <a:solidFill>
                  <a:srgbClr val="333333"/>
                </a:solidFill>
              </a:rPr>
              <a:t>  Acknowledges the alert, assesses its impact, and begins the response.</a:t>
            </a:r>
          </a:p>
        </p:txBody>
      </p:sp>
      <p:sp>
        <p:nvSpPr>
          <p:cNvPr id="7" name="escalation-card-3">
            <a:extLst>
              <a:ext uri="{FF2B5EF4-FFF2-40B4-BE49-F238E27FC236}">
                <a16:creationId xmlns:a16="http://schemas.microsoft.com/office/drawing/2014/main" id="{CC6F7496-ABA8-410B-A58A-37F1DAE15EE0}"/>
              </a:ext>
            </a:extLst>
          </p:cNvPr>
          <p:cNvSpPr>
            <a:spLocks noGrp="1"/>
          </p:cNvSpPr>
          <p:nvPr/>
        </p:nvSpPr>
        <p:spPr>
          <a:xfrm>
            <a:off x="952500" y="3486150"/>
            <a:ext cx="7239000" cy="647700"/>
          </a:xfrm>
          <a:prstGeom prst="roundRect">
            <a:avLst>
              <a:gd name="adj" fmla="val 14706"/>
            </a:avLst>
          </a:prstGeom>
          <a:solidFill>
            <a:srgbClr val="F3EFF7"/>
          </a:solidFill>
          <a:ln w="11906">
            <a:solidFill>
              <a:srgbClr val="D9D0E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552450" tIns="95250" rIns="152400" bIns="95250" anchor="ctr"/>
          <a:lstStyle/>
          <a:p>
            <a:pPr algn="l"/>
            <a:r>
              <a:rPr sz="1350" b="1">
                <a:solidFill>
                  <a:srgbClr val="4F3775"/>
                </a:solidFill>
              </a:rPr>
              <a:t>Secondary On-Call Engineer</a:t>
            </a:r>
            <a:r>
              <a:rPr sz="1200">
                <a:solidFill>
                  <a:srgbClr val="333333"/>
                </a:solidFill>
              </a:rPr>
              <a:t>  Responds if the primary is unavailable or needs additional assistance.</a:t>
            </a:r>
          </a:p>
        </p:txBody>
      </p:sp>
      <p:sp>
        <p:nvSpPr>
          <p:cNvPr id="8" name="escalation-card-4">
            <a:extLst>
              <a:ext uri="{FF2B5EF4-FFF2-40B4-BE49-F238E27FC236}">
                <a16:creationId xmlns:a16="http://schemas.microsoft.com/office/drawing/2014/main" id="{C74D30C8-2300-40E8-81DB-191B31AE8B33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7239000" cy="647700"/>
          </a:xfrm>
          <a:prstGeom prst="roundRect">
            <a:avLst>
              <a:gd name="adj" fmla="val 14706"/>
            </a:avLst>
          </a:prstGeom>
          <a:solidFill>
            <a:srgbClr val="F3EFF7"/>
          </a:solidFill>
          <a:ln w="11906">
            <a:solidFill>
              <a:srgbClr val="D9D0E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552450" tIns="95250" rIns="152400" bIns="95250" anchor="ctr"/>
          <a:lstStyle/>
          <a:p>
            <a:pPr algn="l"/>
            <a:r>
              <a:rPr sz="1350" b="1">
                <a:solidFill>
                  <a:srgbClr val="4F3775"/>
                </a:solidFill>
              </a:rPr>
              <a:t>Incident and Specialized Support</a:t>
            </a:r>
            <a:r>
              <a:rPr sz="1200">
                <a:solidFill>
                  <a:srgbClr val="333333"/>
                </a:solidFill>
              </a:rPr>
              <a:t>  Provides technical expertise, incident coordination, or management escalation.</a:t>
            </a:r>
          </a:p>
        </p:txBody>
      </p:sp>
      <p:cxnSp>
        <p:nvCxnSpPr>
          <p:cNvPr id="24" name="Straight Arrow Connector 23"/>
          <p:cNvCxnSpPr>
            <a:stCxn id="5" idx="2"/>
            <a:endCxn id="6" idx="0"/>
          </p:cNvCxnSpPr>
          <p:nvPr/>
        </p:nvCxnSpPr>
        <p:spPr>
          <a:xfrm>
            <a:off x="4572000" y="2457450"/>
            <a:ext cx="0" cy="190500"/>
          </a:xfrm>
          <a:prstGeom prst="straightConnector1">
            <a:avLst/>
          </a:prstGeom>
          <a:ln w="19050">
            <a:solidFill>
              <a:srgbClr val="4F3775"/>
            </a:solidFill>
            <a:prstDash val="solid"/>
            <a:tailEnd type="triangle" w="sm" len="sm"/>
          </a:ln>
        </p:spPr>
      </p:cxnSp>
      <p:cxnSp>
        <p:nvCxnSpPr>
          <p:cNvPr id="25" name="Straight Arrow Connector 24"/>
          <p:cNvCxnSpPr>
            <a:stCxn id="6" idx="2"/>
            <a:endCxn id="7" idx="0"/>
          </p:cNvCxnSpPr>
          <p:nvPr/>
        </p:nvCxnSpPr>
        <p:spPr>
          <a:xfrm>
            <a:off x="4572000" y="3295650"/>
            <a:ext cx="0" cy="190500"/>
          </a:xfrm>
          <a:prstGeom prst="straightConnector1">
            <a:avLst/>
          </a:prstGeom>
          <a:ln w="19050">
            <a:solidFill>
              <a:srgbClr val="4F3775"/>
            </a:solidFill>
            <a:prstDash val="solid"/>
            <a:tailEnd type="triangle" w="sm" len="sm"/>
          </a:ln>
        </p:spPr>
      </p:cxnSp>
      <p:cxnSp>
        <p:nvCxnSpPr>
          <p:cNvPr id="26" name="Straight Arrow Connector 25"/>
          <p:cNvCxnSpPr>
            <a:stCxn id="7" idx="2"/>
            <a:endCxn id="8" idx="0"/>
          </p:cNvCxnSpPr>
          <p:nvPr/>
        </p:nvCxnSpPr>
        <p:spPr>
          <a:xfrm>
            <a:off x="4572000" y="4133850"/>
            <a:ext cx="0" cy="190500"/>
          </a:xfrm>
          <a:prstGeom prst="straightConnector1">
            <a:avLst/>
          </a:prstGeom>
          <a:ln w="19050">
            <a:solidFill>
              <a:srgbClr val="4F3775"/>
            </a:solidFill>
            <a:prstDash val="solid"/>
            <a:tailEnd type="triangle" w="sm" len="sm"/>
          </a:ln>
        </p:spPr>
      </p:cxnSp>
      <p:sp>
        <p:nvSpPr>
          <p:cNvPr id="12" name="escalation-step-1">
            <a:extLst>
              <a:ext uri="{FF2B5EF4-FFF2-40B4-BE49-F238E27FC236}">
                <a16:creationId xmlns:a16="http://schemas.microsoft.com/office/drawing/2014/main" id="{C947EBDD-FBC8-4EC5-971B-7A6836DB42E7}"/>
              </a:ext>
            </a:extLst>
          </p:cNvPr>
          <p:cNvSpPr>
            <a:spLocks noGrp="1"/>
          </p:cNvSpPr>
          <p:nvPr/>
        </p:nvSpPr>
        <p:spPr>
          <a:xfrm>
            <a:off x="1066800" y="1943100"/>
            <a:ext cx="381000" cy="381000"/>
          </a:xfrm>
          <a:prstGeom prst="ellipse">
            <a:avLst/>
          </a:prstGeom>
          <a:solidFill>
            <a:srgbClr val="D0A427"/>
          </a:solidFill>
          <a:ln w="9525">
            <a:solidFill>
              <a:srgbClr val="D0A4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escalation-step-2">
            <a:extLst>
              <a:ext uri="{FF2B5EF4-FFF2-40B4-BE49-F238E27FC236}">
                <a16:creationId xmlns:a16="http://schemas.microsoft.com/office/drawing/2014/main" id="{D24FFF76-C1ED-4161-A370-439B5B4ED9FC}"/>
              </a:ext>
            </a:extLst>
          </p:cNvPr>
          <p:cNvSpPr>
            <a:spLocks noGrp="1"/>
          </p:cNvSpPr>
          <p:nvPr/>
        </p:nvSpPr>
        <p:spPr>
          <a:xfrm>
            <a:off x="1066800" y="2781300"/>
            <a:ext cx="381000" cy="381000"/>
          </a:xfrm>
          <a:prstGeom prst="ellipse">
            <a:avLst/>
          </a:prstGeom>
          <a:solidFill>
            <a:srgbClr val="D0A427"/>
          </a:solidFill>
          <a:ln w="9525">
            <a:solidFill>
              <a:srgbClr val="D0A4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escalation-step-3">
            <a:extLst>
              <a:ext uri="{FF2B5EF4-FFF2-40B4-BE49-F238E27FC236}">
                <a16:creationId xmlns:a16="http://schemas.microsoft.com/office/drawing/2014/main" id="{CD878616-EA31-4CD9-9AAA-D1B5FED658DB}"/>
              </a:ext>
            </a:extLst>
          </p:cNvPr>
          <p:cNvSpPr>
            <a:spLocks noGrp="1"/>
          </p:cNvSpPr>
          <p:nvPr/>
        </p:nvSpPr>
        <p:spPr>
          <a:xfrm>
            <a:off x="1066800" y="3619500"/>
            <a:ext cx="381000" cy="381000"/>
          </a:xfrm>
          <a:prstGeom prst="ellipse">
            <a:avLst/>
          </a:prstGeom>
          <a:solidFill>
            <a:srgbClr val="D0A427"/>
          </a:solidFill>
          <a:ln w="9525">
            <a:solidFill>
              <a:srgbClr val="D0A4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escalation-step-4">
            <a:extLst>
              <a:ext uri="{FF2B5EF4-FFF2-40B4-BE49-F238E27FC236}">
                <a16:creationId xmlns:a16="http://schemas.microsoft.com/office/drawing/2014/main" id="{5344D83B-B6AD-4174-B988-7EA95ADB905B}"/>
              </a:ext>
            </a:extLst>
          </p:cNvPr>
          <p:cNvSpPr>
            <a:spLocks noGrp="1"/>
          </p:cNvSpPr>
          <p:nvPr/>
        </p:nvSpPr>
        <p:spPr>
          <a:xfrm>
            <a:off x="1066800" y="4457700"/>
            <a:ext cx="381000" cy="381000"/>
          </a:xfrm>
          <a:prstGeom prst="ellipse">
            <a:avLst/>
          </a:prstGeom>
          <a:solidFill>
            <a:srgbClr val="D0A427"/>
          </a:solidFill>
          <a:ln w="9525">
            <a:solidFill>
              <a:srgbClr val="D0A4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diagram-closing-statement">
            <a:extLst>
              <a:ext uri="{FF2B5EF4-FFF2-40B4-BE49-F238E27FC236}">
                <a16:creationId xmlns:a16="http://schemas.microsoft.com/office/drawing/2014/main" id="{AB4DB324-39E4-4ECC-BDA9-C43CAE1DD901}"/>
              </a:ext>
            </a:extLst>
          </p:cNvPr>
          <p:cNvSpPr>
            <a:spLocks noGrp="1"/>
          </p:cNvSpPr>
          <p:nvPr/>
        </p:nvSpPr>
        <p:spPr>
          <a:xfrm>
            <a:off x="762000" y="5191125"/>
            <a:ext cx="7620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52400" tIns="38100" rIns="152400" bIns="38100" anchor="ctr"/>
          <a:lstStyle/>
          <a:p>
            <a:pPr algn="ctr">
              <a:defRPr sz="1200" i="1">
                <a:solidFill>
                  <a:srgbClr val="422E61"/>
                </a:solidFill>
              </a:defRPr>
            </a:pPr>
            <a:r>
              <a:rPr sz="1200" i="1">
                <a:solidFill>
                  <a:srgbClr val="422E61"/>
                </a:solidFill>
              </a:rPr>
              <a:t>Escalation policies should define acknowledgment windows, backup coverage, handoff procedures, and who has authority to restore service.</a:t>
            </a:r>
          </a:p>
        </p:txBody>
      </p:sp>
      <p:sp>
        <p:nvSpPr>
          <p:cNvPr id="17" name="visible-slide-number-4">
            <a:extLst>
              <a:ext uri="{FF2B5EF4-FFF2-40B4-BE49-F238E27FC236}">
                <a16:creationId xmlns:a16="http://schemas.microsoft.com/office/drawing/2014/main" id="{8DC55C5F-D219-4E0A-A89C-F614EE56C2C8}"/>
              </a:ext>
            </a:extLst>
          </p:cNvPr>
          <p:cNvSpPr>
            <a:spLocks noGrp="1"/>
          </p:cNvSpPr>
          <p:nvPr/>
        </p:nvSpPr>
        <p:spPr>
          <a:xfrm>
            <a:off x="495300" y="6429375"/>
            <a:ext cx="342900" cy="209550"/>
          </a:xfrm>
          <a:prstGeom prst="rect">
            <a:avLst/>
          </a:prstGeom>
          <a:solidFill>
            <a:srgbClr val="4F3775"/>
          </a:solidFill>
          <a:ln w="0">
            <a:solidFill>
              <a:srgbClr val="4F377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7325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3570A4-8C98-49E2-9DAC-6A487F74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100" tIns="28575" rIns="38100" bIns="28575" anchor="ctr">
            <a:normAutofit/>
          </a:bodyPr>
          <a:lstStyle/>
          <a:p>
            <a:pPr>
              <a:defRPr sz="2700">
                <a:solidFill>
                  <a:srgbClr val="4F3775"/>
                </a:solidFill>
              </a:defRPr>
            </a:pPr>
            <a:r>
              <a:rPr sz="2700">
                <a:solidFill>
                  <a:srgbClr val="4F3775"/>
                </a:solidFill>
              </a:rPr>
              <a:t>Fair Scheduling Makes On-Call Sustainable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2B34EA-D2BF-4987-AB1E-0101D77EB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66675" tIns="47625" rIns="66675" bIns="47625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Nights, weekends, and holidays should be distributed equitably, with schedules published far enough in advance for employees to plan around them.</a:t>
            </a:r>
            <a:endParaRPr lang="en-US"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Primary and secondary coverage prevents one engineer from carrying the entire responsibility for an incident.</a:t>
            </a:r>
            <a:endParaRPr lang="en-US"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Scheduling should account for time zones, vacations, illness, holidays, and temporary overrides.</a:t>
            </a:r>
            <a:endParaRPr lang="en-US"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Follow-the-sun rotations can transfer coverage between regions and reduce overnight interruptions when geographically distributed teams are available.</a:t>
            </a:r>
            <a:endParaRPr lang="en-US"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As a benchmark</a:t>
            </a:r>
            <a:r>
              <a:rPr lang="en-US" sz="1388" dirty="0">
                <a:solidFill>
                  <a:srgbClr val="333333"/>
                </a:solidFill>
              </a:rPr>
              <a:t> for sustainability</a:t>
            </a:r>
            <a:r>
              <a:rPr sz="1388" dirty="0">
                <a:solidFill>
                  <a:srgbClr val="333333"/>
                </a:solidFill>
              </a:rPr>
              <a:t>, Google recommends limiting on-call duties to no more than 25 percent of an engineer’s time.</a:t>
            </a:r>
            <a:endParaRPr lang="en-US"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Teams should provide appropriate compensation, recovery time, or workload adjustments following disruptive shifts.</a:t>
            </a:r>
          </a:p>
        </p:txBody>
      </p:sp>
      <p:sp>
        <p:nvSpPr>
          <p:cNvPr id="4" name="visible-slide-number-5">
            <a:extLst>
              <a:ext uri="{FF2B5EF4-FFF2-40B4-BE49-F238E27FC236}">
                <a16:creationId xmlns:a16="http://schemas.microsoft.com/office/drawing/2014/main" id="{E55053B4-15AE-412F-B54B-217BF8963FCC}"/>
              </a:ext>
            </a:extLst>
          </p:cNvPr>
          <p:cNvSpPr>
            <a:spLocks noGrp="1"/>
          </p:cNvSpPr>
          <p:nvPr/>
        </p:nvSpPr>
        <p:spPr>
          <a:xfrm>
            <a:off x="495300" y="6429375"/>
            <a:ext cx="342900" cy="209550"/>
          </a:xfrm>
          <a:prstGeom prst="rect">
            <a:avLst/>
          </a:prstGeom>
          <a:solidFill>
            <a:srgbClr val="4F3775"/>
          </a:solidFill>
          <a:ln w="0">
            <a:solidFill>
              <a:srgbClr val="4F377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>
                <a:solidFill>
                  <a:srgbClr val="FFFFFF"/>
                </a:solidFill>
              </a:defRPr>
            </a:pPr>
            <a:r>
              <a:rPr sz="825" dirty="0">
                <a:solidFill>
                  <a:srgbClr val="FFFFFF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7325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3570A4-8C98-49E2-9DAC-6A487F74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100" tIns="28575" rIns="38100" bIns="28575" anchor="ctr">
            <a:normAutofit/>
          </a:bodyPr>
          <a:lstStyle/>
          <a:p>
            <a:pPr>
              <a:defRPr sz="2700">
                <a:solidFill>
                  <a:srgbClr val="4F3775"/>
                </a:solidFill>
              </a:defRPr>
            </a:pPr>
            <a:r>
              <a:rPr sz="2700">
                <a:solidFill>
                  <a:srgbClr val="4F3775"/>
                </a:solidFill>
              </a:rPr>
              <a:t>Only Actionable Alerts Should Page an Engineer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2B34EA-D2BF-4987-AB1E-0101D77EB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66675" tIns="47625" rIns="66675" bIns="47625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A page should represent an urgent condition that threatens customers or service reliability and requires immediate human action.</a:t>
            </a:r>
            <a:endParaRPr lang="en-US"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Every alert should clearly identify the affected service, observed condition, severity, and expected response.</a:t>
            </a:r>
            <a:endParaRPr lang="en-US"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Lower-priority warnings should create tickets or appear on dashboards instead of interrupting an engineer outside normal working hours.</a:t>
            </a:r>
            <a:endParaRPr lang="en-US"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Duplicate and cascading alerts should be grouped or suppressed so responders can focus on the underlying incident.</a:t>
            </a:r>
            <a:endParaRPr lang="en-US"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Alert thresholds should reflect meaningful service objectives rather than every variation.</a:t>
            </a:r>
            <a:endParaRPr lang="en-US"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Teams should regularly remove false positives and revise alerts that do not lead to useful action.</a:t>
            </a:r>
          </a:p>
        </p:txBody>
      </p:sp>
      <p:sp>
        <p:nvSpPr>
          <p:cNvPr id="4" name="visible-slide-number-6">
            <a:extLst>
              <a:ext uri="{FF2B5EF4-FFF2-40B4-BE49-F238E27FC236}">
                <a16:creationId xmlns:a16="http://schemas.microsoft.com/office/drawing/2014/main" id="{F63FCF58-420A-4E23-9E91-A5AA3A4FF08F}"/>
              </a:ext>
            </a:extLst>
          </p:cNvPr>
          <p:cNvSpPr>
            <a:spLocks noGrp="1"/>
          </p:cNvSpPr>
          <p:nvPr/>
        </p:nvSpPr>
        <p:spPr>
          <a:xfrm>
            <a:off x="495300" y="6429375"/>
            <a:ext cx="342900" cy="209550"/>
          </a:xfrm>
          <a:prstGeom prst="rect">
            <a:avLst/>
          </a:prstGeom>
          <a:solidFill>
            <a:srgbClr val="4F3775"/>
          </a:solidFill>
          <a:ln w="0">
            <a:solidFill>
              <a:srgbClr val="4F377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7325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3570A4-8C98-49E2-9DAC-6A487F74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100" tIns="28575" rIns="38100" bIns="28575" anchor="ctr">
            <a:normAutofit/>
          </a:bodyPr>
          <a:lstStyle/>
          <a:p>
            <a:pPr>
              <a:defRPr sz="2700">
                <a:solidFill>
                  <a:srgbClr val="4F3775"/>
                </a:solidFill>
              </a:defRPr>
            </a:pPr>
            <a:r>
              <a:rPr sz="2400" dirty="0">
                <a:solidFill>
                  <a:srgbClr val="4F3775"/>
                </a:solidFill>
              </a:rPr>
              <a:t>Preparation Enables Faster and Safer Incident Response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2B34EA-D2BF-4987-AB1E-0101D77EB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66675" tIns="47625" rIns="66675" bIns="47625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On-call engineers need access to relevant dashboards, logs, traces, deployment history, and system documentation before beginning a shift.</a:t>
            </a:r>
            <a:endParaRPr lang="en-US"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Runbooks should provide concise diagnostic steps, common recovery procedures, escalation contacts, and known system limitations.</a:t>
            </a:r>
            <a:endParaRPr lang="en-US"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New team members should receive training, shadow experienced responders, and participate in supervised rotations before working independently.</a:t>
            </a:r>
            <a:endParaRPr lang="en-US"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Responders must have the authority to take safe recovery actions, such as rolling back a deployment, disabling a feature, or removing an unhealthy component.</a:t>
            </a:r>
            <a:endParaRPr lang="en-US"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Clear communication roles help technical responders concentrate on restoration while another person coordinates updates and additional support.</a:t>
            </a:r>
            <a:endParaRPr lang="en-US"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Current and tested preparation materials reduce dependence on undocumented knowledge held by individual engineers.</a:t>
            </a:r>
          </a:p>
        </p:txBody>
      </p:sp>
      <p:sp>
        <p:nvSpPr>
          <p:cNvPr id="4" name="visible-slide-number-7">
            <a:extLst>
              <a:ext uri="{FF2B5EF4-FFF2-40B4-BE49-F238E27FC236}">
                <a16:creationId xmlns:a16="http://schemas.microsoft.com/office/drawing/2014/main" id="{C43741CD-6ECB-404C-BB96-519DAF8E8E8C}"/>
              </a:ext>
            </a:extLst>
          </p:cNvPr>
          <p:cNvSpPr>
            <a:spLocks noGrp="1"/>
          </p:cNvSpPr>
          <p:nvPr/>
        </p:nvSpPr>
        <p:spPr>
          <a:xfrm>
            <a:off x="495300" y="6429375"/>
            <a:ext cx="342900" cy="209550"/>
          </a:xfrm>
          <a:prstGeom prst="rect">
            <a:avLst/>
          </a:prstGeom>
          <a:solidFill>
            <a:srgbClr val="4F3775"/>
          </a:solidFill>
          <a:ln w="0">
            <a:solidFill>
              <a:srgbClr val="4F377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7325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3570A4-8C98-49E2-9DAC-6A487F74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100" tIns="28575" rIns="38100" bIns="28575" anchor="ctr">
            <a:normAutofit/>
          </a:bodyPr>
          <a:lstStyle/>
          <a:p>
            <a:pPr>
              <a:defRPr sz="2700">
                <a:solidFill>
                  <a:srgbClr val="4F3775"/>
                </a:solidFill>
              </a:defRPr>
            </a:pPr>
            <a:r>
              <a:rPr sz="2700">
                <a:solidFill>
                  <a:srgbClr val="4F3775"/>
                </a:solidFill>
              </a:rPr>
              <a:t>Every Incident Should Produce Lasting Improvement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2B34EA-D2BF-4987-AB1E-0101D77EB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66675" tIns="47625" rIns="66675" bIns="47625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Restoring service is the immediate goal, but the team should also examine why the incident occurred and why existing safeguards did not prevent or detect it sooner.</a:t>
            </a:r>
            <a:endParaRPr lang="en-US"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Blameless post-incident reviews should document the timeline, contributing conditions, customer impact, and successful or unsuccessful response actions.</a:t>
            </a:r>
            <a:endParaRPr lang="en-US"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Recurring incidents should become prioritized development work instead of remaining a permanent burden for the on-call rotation.</a:t>
            </a:r>
            <a:endParaRPr lang="en-US"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Lessons from incidents can improve automated tests, monitoring, runbooks, deployment procedures, architecture, and recovery automation.</a:t>
            </a:r>
            <a:endParaRPr lang="en-US"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Teams can evaluate rotation health by tracking page volume, false alerts, repeated incidents, acknowledgment time, restoration time, and after-hours interruptions.</a:t>
            </a:r>
            <a:endParaRPr lang="en-US"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Shared pager duty returns operational knowledge to Development and creates a continuous feedback loop between code creation and production behavior.</a:t>
            </a:r>
          </a:p>
        </p:txBody>
      </p:sp>
      <p:sp>
        <p:nvSpPr>
          <p:cNvPr id="4" name="visible-slide-number-8">
            <a:extLst>
              <a:ext uri="{FF2B5EF4-FFF2-40B4-BE49-F238E27FC236}">
                <a16:creationId xmlns:a16="http://schemas.microsoft.com/office/drawing/2014/main" id="{DA2A0DF9-F45E-467F-85C9-9270F0A5C409}"/>
              </a:ext>
            </a:extLst>
          </p:cNvPr>
          <p:cNvSpPr>
            <a:spLocks noGrp="1"/>
          </p:cNvSpPr>
          <p:nvPr/>
        </p:nvSpPr>
        <p:spPr>
          <a:xfrm>
            <a:off x="495300" y="6429375"/>
            <a:ext cx="342900" cy="209550"/>
          </a:xfrm>
          <a:prstGeom prst="rect">
            <a:avLst/>
          </a:prstGeom>
          <a:solidFill>
            <a:srgbClr val="4F3775"/>
          </a:solidFill>
          <a:ln w="0">
            <a:solidFill>
              <a:srgbClr val="4F377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7325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DDAE9-5376-4606-8AF5-1EA097976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100" tIns="28575" rIns="38100" bIns="28575" anchor="ctr">
            <a:normAutofit/>
          </a:bodyPr>
          <a:lstStyle/>
          <a:p>
            <a:pPr>
              <a:defRPr sz="2550">
                <a:solidFill>
                  <a:srgbClr val="4F3775"/>
                </a:solidFill>
              </a:defRPr>
            </a:pPr>
            <a:r>
              <a:rPr sz="2550">
                <a:solidFill>
                  <a:srgbClr val="4F3775"/>
                </a:solidFill>
              </a:rPr>
              <a:t>Healthy Pager Rotations Improve Reliability and Culture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70F73-B2F9-4FAE-B828-6BE5984AA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38100" tIns="38100" rIns="38100" bIns="38100" anchor="ctr"/>
          <a:lstStyle/>
          <a:p>
            <a:pPr>
              <a:defRPr sz="1575" b="1">
                <a:solidFill>
                  <a:srgbClr val="4F3775"/>
                </a:solidFill>
              </a:defRPr>
            </a:pPr>
            <a:r>
              <a:rPr sz="1575" b="1">
                <a:solidFill>
                  <a:srgbClr val="4F3775"/>
                </a:solidFill>
              </a:rPr>
              <a:t>Effective Rotations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4E1497-6578-4613-9FE8-EB3AA39A309A}"/>
              </a:ext>
            </a:extLst>
          </p:cNvPr>
          <p:cNvSpPr>
            <a:spLocks noGrp="1"/>
          </p:cNvSpPr>
          <p:nvPr>
            <p:ph idx="2"/>
          </p:nvPr>
        </p:nvSpPr>
        <p:spPr/>
        <p:txBody>
          <a:bodyPr lIns="66675" tIns="47625" rIns="66675" bIns="47625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13">
                <a:solidFill>
                  <a:srgbClr val="333333"/>
                </a:solidFill>
              </a:defRPr>
            </a:pPr>
            <a:r>
              <a:rPr sz="1313" dirty="0">
                <a:solidFill>
                  <a:srgbClr val="333333"/>
                </a:solidFill>
              </a:rPr>
              <a:t>• Share production ownership between Development and Operations.</a:t>
            </a:r>
            <a:endParaRPr lang="en-US" sz="1313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13">
                <a:solidFill>
                  <a:srgbClr val="333333"/>
                </a:solidFill>
              </a:defRPr>
            </a:pPr>
            <a:endParaRPr sz="1313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13">
                <a:solidFill>
                  <a:srgbClr val="333333"/>
                </a:solidFill>
              </a:defRPr>
            </a:pPr>
            <a:r>
              <a:rPr sz="1313" dirty="0">
                <a:solidFill>
                  <a:srgbClr val="333333"/>
                </a:solidFill>
              </a:rPr>
              <a:t>• Provide fair, predictable, and adequately staffed schedules.</a:t>
            </a:r>
            <a:endParaRPr lang="en-US" sz="1313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13">
                <a:solidFill>
                  <a:srgbClr val="333333"/>
                </a:solidFill>
              </a:defRPr>
            </a:pPr>
            <a:endParaRPr sz="1313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13">
                <a:solidFill>
                  <a:srgbClr val="333333"/>
                </a:solidFill>
              </a:defRPr>
            </a:pPr>
            <a:r>
              <a:rPr sz="1313" dirty="0">
                <a:solidFill>
                  <a:srgbClr val="333333"/>
                </a:solidFill>
              </a:rPr>
              <a:t>• Page engineers only for urgent and actionable conditions.</a:t>
            </a:r>
            <a:endParaRPr lang="en-US" sz="1313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13">
                <a:solidFill>
                  <a:srgbClr val="333333"/>
                </a:solidFill>
              </a:defRPr>
            </a:pPr>
            <a:endParaRPr sz="1313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13">
                <a:solidFill>
                  <a:srgbClr val="333333"/>
                </a:solidFill>
              </a:defRPr>
            </a:pPr>
            <a:r>
              <a:rPr sz="1313" dirty="0">
                <a:solidFill>
                  <a:srgbClr val="333333"/>
                </a:solidFill>
              </a:rPr>
              <a:t>• Establish clear escalation and recovery authority.</a:t>
            </a:r>
            <a:endParaRPr lang="en-US" sz="1313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13">
                <a:solidFill>
                  <a:srgbClr val="333333"/>
                </a:solidFill>
              </a:defRPr>
            </a:pPr>
            <a:endParaRPr sz="1313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13">
                <a:solidFill>
                  <a:srgbClr val="333333"/>
                </a:solidFill>
              </a:defRPr>
            </a:pPr>
            <a:r>
              <a:rPr sz="1313" dirty="0">
                <a:solidFill>
                  <a:srgbClr val="333333"/>
                </a:solidFill>
              </a:rPr>
              <a:t>• Turn incidents into improvements to the service and its supporting processes.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29C319-651B-4CCF-B906-C5B6BFC6D9B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 lIns="38100" tIns="38100" rIns="38100" bIns="38100" anchor="ctr"/>
          <a:lstStyle/>
          <a:p>
            <a:pPr>
              <a:defRPr sz="1575" b="1">
                <a:solidFill>
                  <a:srgbClr val="4F3775"/>
                </a:solidFill>
              </a:defRPr>
            </a:pPr>
            <a:r>
              <a:rPr sz="1575" b="1" dirty="0">
                <a:solidFill>
                  <a:srgbClr val="4F3775"/>
                </a:solidFill>
              </a:rPr>
              <a:t>Warning Signs</a:t>
            </a:r>
            <a:r>
              <a:rPr lang="en-US" sz="1575" b="1" dirty="0">
                <a:solidFill>
                  <a:srgbClr val="4F3775"/>
                </a:solidFill>
              </a:rPr>
              <a:t> To Look For</a:t>
            </a:r>
            <a:endParaRPr sz="1575" b="1" dirty="0">
              <a:solidFill>
                <a:srgbClr val="4F3775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6C583E-E676-40BD-B141-DEDD20D98BF0}"/>
              </a:ext>
            </a:extLst>
          </p:cNvPr>
          <p:cNvSpPr>
            <a:spLocks noGrp="1"/>
          </p:cNvSpPr>
          <p:nvPr>
            <p:ph idx="4"/>
          </p:nvPr>
        </p:nvSpPr>
        <p:spPr/>
        <p:txBody>
          <a:bodyPr lIns="66675" tIns="47625" rIns="66675" bIns="47625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6"/>
              </a:spcAft>
              <a:buNone/>
              <a:defRPr sz="1313">
                <a:solidFill>
                  <a:srgbClr val="333333"/>
                </a:solidFill>
              </a:defRPr>
            </a:pPr>
            <a:r>
              <a:rPr sz="1313" dirty="0">
                <a:solidFill>
                  <a:srgbClr val="333333"/>
                </a:solidFill>
              </a:rPr>
              <a:t>• One team absorbs most production problems.</a:t>
            </a:r>
            <a:endParaRPr lang="en-US" sz="1313" dirty="0">
              <a:solidFill>
                <a:srgbClr val="333333"/>
              </a:solidFill>
            </a:endParaRPr>
          </a:p>
          <a:p>
            <a:pPr algn="l">
              <a:lnSpc>
                <a:spcPct val="103000"/>
              </a:lnSpc>
              <a:spcAft>
                <a:spcPts val="6"/>
              </a:spcAft>
              <a:buNone/>
              <a:defRPr sz="1313">
                <a:solidFill>
                  <a:srgbClr val="333333"/>
                </a:solidFill>
              </a:defRPr>
            </a:pPr>
            <a:endParaRPr sz="1313" dirty="0">
              <a:solidFill>
                <a:srgbClr val="333333"/>
              </a:solidFill>
            </a:endParaRPr>
          </a:p>
          <a:p>
            <a:pPr algn="l">
              <a:lnSpc>
                <a:spcPct val="103000"/>
              </a:lnSpc>
              <a:spcAft>
                <a:spcPts val="6"/>
              </a:spcAft>
              <a:buNone/>
              <a:defRPr sz="1313">
                <a:solidFill>
                  <a:srgbClr val="333333"/>
                </a:solidFill>
              </a:defRPr>
            </a:pPr>
            <a:r>
              <a:rPr sz="1313" dirty="0">
                <a:solidFill>
                  <a:srgbClr val="333333"/>
                </a:solidFill>
              </a:rPr>
              <a:t>• Noisy or repetitive alerts regularly interrupt engineers.</a:t>
            </a:r>
            <a:endParaRPr lang="en-US" sz="1313" dirty="0">
              <a:solidFill>
                <a:srgbClr val="333333"/>
              </a:solidFill>
            </a:endParaRPr>
          </a:p>
          <a:p>
            <a:pPr algn="l">
              <a:lnSpc>
                <a:spcPct val="103000"/>
              </a:lnSpc>
              <a:spcAft>
                <a:spcPts val="6"/>
              </a:spcAft>
              <a:buNone/>
              <a:defRPr sz="1313">
                <a:solidFill>
                  <a:srgbClr val="333333"/>
                </a:solidFill>
              </a:defRPr>
            </a:pPr>
            <a:endParaRPr sz="1313" dirty="0">
              <a:solidFill>
                <a:srgbClr val="333333"/>
              </a:solidFill>
            </a:endParaRPr>
          </a:p>
          <a:p>
            <a:pPr algn="l">
              <a:lnSpc>
                <a:spcPct val="103000"/>
              </a:lnSpc>
              <a:spcAft>
                <a:spcPts val="6"/>
              </a:spcAft>
              <a:buNone/>
              <a:defRPr sz="1313">
                <a:solidFill>
                  <a:srgbClr val="333333"/>
                </a:solidFill>
              </a:defRPr>
            </a:pPr>
            <a:r>
              <a:rPr sz="1313" dirty="0">
                <a:solidFill>
                  <a:srgbClr val="333333"/>
                </a:solidFill>
              </a:rPr>
              <a:t>• Escalation responsibilities are unclear.</a:t>
            </a:r>
            <a:endParaRPr lang="en-US" sz="1313" dirty="0">
              <a:solidFill>
                <a:srgbClr val="333333"/>
              </a:solidFill>
            </a:endParaRPr>
          </a:p>
          <a:p>
            <a:pPr algn="l">
              <a:lnSpc>
                <a:spcPct val="103000"/>
              </a:lnSpc>
              <a:spcAft>
                <a:spcPts val="6"/>
              </a:spcAft>
              <a:buNone/>
              <a:defRPr sz="1313">
                <a:solidFill>
                  <a:srgbClr val="333333"/>
                </a:solidFill>
              </a:defRPr>
            </a:pPr>
            <a:endParaRPr sz="1313" dirty="0">
              <a:solidFill>
                <a:srgbClr val="333333"/>
              </a:solidFill>
            </a:endParaRPr>
          </a:p>
          <a:p>
            <a:pPr algn="l">
              <a:lnSpc>
                <a:spcPct val="103000"/>
              </a:lnSpc>
              <a:spcAft>
                <a:spcPts val="6"/>
              </a:spcAft>
              <a:buNone/>
              <a:defRPr sz="1313">
                <a:solidFill>
                  <a:srgbClr val="333333"/>
                </a:solidFill>
              </a:defRPr>
            </a:pPr>
            <a:r>
              <a:rPr sz="1313" dirty="0">
                <a:solidFill>
                  <a:srgbClr val="333333"/>
                </a:solidFill>
              </a:rPr>
              <a:t>• Recurring incidents remain unresolved.</a:t>
            </a:r>
            <a:endParaRPr lang="en-US" sz="1313" dirty="0">
              <a:solidFill>
                <a:srgbClr val="333333"/>
              </a:solidFill>
            </a:endParaRPr>
          </a:p>
          <a:p>
            <a:pPr algn="l">
              <a:lnSpc>
                <a:spcPct val="103000"/>
              </a:lnSpc>
              <a:spcAft>
                <a:spcPts val="6"/>
              </a:spcAft>
              <a:buNone/>
              <a:defRPr sz="1313">
                <a:solidFill>
                  <a:srgbClr val="333333"/>
                </a:solidFill>
              </a:defRPr>
            </a:pPr>
            <a:endParaRPr sz="1313" dirty="0">
              <a:solidFill>
                <a:srgbClr val="333333"/>
              </a:solidFill>
            </a:endParaRPr>
          </a:p>
          <a:p>
            <a:pPr algn="l">
              <a:lnSpc>
                <a:spcPct val="103000"/>
              </a:lnSpc>
              <a:spcAft>
                <a:spcPts val="6"/>
              </a:spcAft>
              <a:buNone/>
              <a:defRPr sz="1313">
                <a:solidFill>
                  <a:srgbClr val="333333"/>
                </a:solidFill>
              </a:defRPr>
            </a:pPr>
            <a:r>
              <a:rPr sz="1313" dirty="0">
                <a:solidFill>
                  <a:srgbClr val="333333"/>
                </a:solidFill>
              </a:rPr>
              <a:t>• After-hours work accumulates without recovery time or workload changes.</a:t>
            </a:r>
            <a:endParaRPr lang="en-US" sz="1313" dirty="0">
              <a:solidFill>
                <a:srgbClr val="333333"/>
              </a:solidFill>
            </a:endParaRPr>
          </a:p>
          <a:p>
            <a:pPr algn="l">
              <a:lnSpc>
                <a:spcPct val="103000"/>
              </a:lnSpc>
              <a:spcAft>
                <a:spcPts val="6"/>
              </a:spcAft>
              <a:buNone/>
              <a:defRPr sz="1313">
                <a:solidFill>
                  <a:srgbClr val="333333"/>
                </a:solidFill>
              </a:defRPr>
            </a:pPr>
            <a:endParaRPr sz="1313" dirty="0">
              <a:solidFill>
                <a:srgbClr val="333333"/>
              </a:solidFill>
            </a:endParaRPr>
          </a:p>
          <a:p>
            <a:pPr algn="l">
              <a:lnSpc>
                <a:spcPct val="103000"/>
              </a:lnSpc>
              <a:spcBef>
                <a:spcPts val="10"/>
              </a:spcBef>
              <a:buNone/>
              <a:defRPr sz="1313">
                <a:solidFill>
                  <a:srgbClr val="333333"/>
                </a:solidFill>
              </a:defRPr>
            </a:pPr>
            <a:r>
              <a:rPr sz="1313" b="1" i="1" dirty="0">
                <a:solidFill>
                  <a:srgbClr val="333333"/>
                </a:solidFill>
              </a:rPr>
              <a:t>A pager rotation should be evaluated by both the reliability of the service and whether the people operating it can sustain the workload.</a:t>
            </a:r>
          </a:p>
        </p:txBody>
      </p:sp>
      <p:sp>
        <p:nvSpPr>
          <p:cNvPr id="7" name="visible-slide-number-9">
            <a:extLst>
              <a:ext uri="{FF2B5EF4-FFF2-40B4-BE49-F238E27FC236}">
                <a16:creationId xmlns:a16="http://schemas.microsoft.com/office/drawing/2014/main" id="{E5D1BFF3-4A33-4083-A361-0B89A39ACDD4}"/>
              </a:ext>
            </a:extLst>
          </p:cNvPr>
          <p:cNvSpPr>
            <a:spLocks noGrp="1"/>
          </p:cNvSpPr>
          <p:nvPr/>
        </p:nvSpPr>
        <p:spPr>
          <a:xfrm>
            <a:off x="495300" y="6429375"/>
            <a:ext cx="342900" cy="209550"/>
          </a:xfrm>
          <a:prstGeom prst="rect">
            <a:avLst/>
          </a:prstGeom>
          <a:solidFill>
            <a:srgbClr val="4F3775"/>
          </a:solidFill>
          <a:ln w="0">
            <a:solidFill>
              <a:srgbClr val="4F377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84795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3570A4-8C98-49E2-9DAC-6A487F74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100" tIns="28575" rIns="38100" bIns="28575" anchor="ctr">
            <a:normAutofit/>
          </a:bodyPr>
          <a:lstStyle/>
          <a:p>
            <a:pPr>
              <a:defRPr sz="2700">
                <a:solidFill>
                  <a:srgbClr val="4F3775"/>
                </a:solidFill>
              </a:defRPr>
            </a:pPr>
            <a:r>
              <a:rPr sz="2700">
                <a:solidFill>
                  <a:srgbClr val="4F3775"/>
                </a:solidFill>
              </a:rPr>
              <a:t>References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2B34EA-D2BF-4987-AB1E-0101D77EB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66675" tIns="38100" rIns="66675" bIns="38100" anchor="t">
            <a:normAutofit/>
          </a:bodyPr>
          <a:lstStyle/>
          <a:p>
            <a:pPr>
              <a:lnSpc>
                <a:spcPct val="105000"/>
              </a:lnSpc>
              <a:spcAft>
                <a:spcPts val="18"/>
              </a:spcAft>
              <a:buNone/>
              <a:defRPr sz="1350">
                <a:solidFill>
                  <a:srgbClr val="333333"/>
                </a:solidFill>
              </a:defRPr>
            </a:pPr>
            <a:r>
              <a:rPr sz="1350" dirty="0">
                <a:solidFill>
                  <a:srgbClr val="333333"/>
                </a:solidFill>
              </a:rPr>
              <a:t>• Kim, G., Humble, J., Debois, P., &amp; Willis, J. (2021). The DevOps handbook: How to create world-class agility, reliability, &amp; security in technology organizations (2nd ed.). Simon &amp; Schuster.</a:t>
            </a:r>
            <a:endParaRPr lang="en-US" sz="1350" dirty="0">
              <a:solidFill>
                <a:srgbClr val="333333"/>
              </a:solidFill>
            </a:endParaRPr>
          </a:p>
          <a:p>
            <a:pPr>
              <a:lnSpc>
                <a:spcPct val="105000"/>
              </a:lnSpc>
              <a:spcAft>
                <a:spcPts val="18"/>
              </a:spcAft>
              <a:buNone/>
              <a:defRPr sz="1350">
                <a:solidFill>
                  <a:srgbClr val="333333"/>
                </a:solidFill>
              </a:defRPr>
            </a:pPr>
            <a:endParaRPr sz="1350" dirty="0">
              <a:solidFill>
                <a:srgbClr val="333333"/>
              </a:solidFill>
            </a:endParaRPr>
          </a:p>
          <a:p>
            <a:pPr>
              <a:lnSpc>
                <a:spcPct val="105000"/>
              </a:lnSpc>
              <a:spcAft>
                <a:spcPts val="18"/>
              </a:spcAft>
              <a:buNone/>
              <a:defRPr sz="1350">
                <a:solidFill>
                  <a:srgbClr val="333333"/>
                </a:solidFill>
              </a:defRPr>
            </a:pPr>
            <a:r>
              <a:rPr sz="1350" dirty="0">
                <a:solidFill>
                  <a:srgbClr val="333333"/>
                </a:solidFill>
              </a:rPr>
              <a:t>• PagerDuty. (n.d.). On-call rotations and schedules.
</a:t>
            </a:r>
            <a:r>
              <a:rPr sz="1350" dirty="0">
                <a:solidFill>
                  <a:srgbClr val="333333"/>
                </a:solidFill>
                <a:hlinkClick r:id="rId3"/>
              </a:rPr>
              <a:t>https://www.pagerduty.com/resources/incident-management-response/learn/call-rotations-schedules/</a:t>
            </a:r>
            <a:endParaRPr lang="en-US" sz="1350" dirty="0">
              <a:solidFill>
                <a:srgbClr val="333333"/>
              </a:solidFill>
            </a:endParaRPr>
          </a:p>
          <a:p>
            <a:pPr>
              <a:lnSpc>
                <a:spcPct val="105000"/>
              </a:lnSpc>
              <a:spcAft>
                <a:spcPts val="18"/>
              </a:spcAft>
              <a:buNone/>
              <a:defRPr sz="1350">
                <a:solidFill>
                  <a:srgbClr val="333333"/>
                </a:solidFill>
              </a:defRPr>
            </a:pPr>
            <a:endParaRPr sz="1350" dirty="0">
              <a:solidFill>
                <a:srgbClr val="333333"/>
              </a:solidFill>
            </a:endParaRPr>
          </a:p>
          <a:p>
            <a:pPr>
              <a:lnSpc>
                <a:spcPct val="105000"/>
              </a:lnSpc>
              <a:spcAft>
                <a:spcPts val="18"/>
              </a:spcAft>
              <a:buNone/>
              <a:defRPr sz="1350">
                <a:solidFill>
                  <a:srgbClr val="333333"/>
                </a:solidFill>
              </a:defRPr>
            </a:pPr>
            <a:r>
              <a:rPr sz="1350" dirty="0">
                <a:solidFill>
                  <a:srgbClr val="333333"/>
                </a:solidFill>
              </a:rPr>
              <a:t>• Spadaccini, A. (2016). Being on-call. In B. Beyer, C. Jones, J. </a:t>
            </a:r>
            <a:r>
              <a:rPr sz="1350" dirty="0" err="1">
                <a:solidFill>
                  <a:srgbClr val="333333"/>
                </a:solidFill>
              </a:rPr>
              <a:t>Petoff</a:t>
            </a:r>
            <a:r>
              <a:rPr sz="1350" dirty="0">
                <a:solidFill>
                  <a:srgbClr val="333333"/>
                </a:solidFill>
              </a:rPr>
              <a:t>, &amp; N. R. Murphy (Eds.), Site reliability engineering: How Google runs production systems. O’Reilly Media.
</a:t>
            </a:r>
            <a:r>
              <a:rPr lang="en-US" sz="1350" dirty="0">
                <a:solidFill>
                  <a:srgbClr val="333333"/>
                </a:solidFill>
              </a:rPr>
              <a:t>	</a:t>
            </a:r>
            <a:r>
              <a:rPr sz="1350" dirty="0">
                <a:solidFill>
                  <a:srgbClr val="333333"/>
                </a:solidFill>
                <a:hlinkClick r:id="rId4"/>
              </a:rPr>
              <a:t>https://sre.google/sre-book/being-on-call/</a:t>
            </a:r>
            <a:endParaRPr lang="en-US" sz="1350" dirty="0">
              <a:solidFill>
                <a:srgbClr val="333333"/>
              </a:solidFill>
            </a:endParaRPr>
          </a:p>
          <a:p>
            <a:pPr>
              <a:lnSpc>
                <a:spcPct val="105000"/>
              </a:lnSpc>
              <a:spcAft>
                <a:spcPts val="18"/>
              </a:spcAft>
              <a:buNone/>
              <a:defRPr sz="1350">
                <a:solidFill>
                  <a:srgbClr val="333333"/>
                </a:solidFill>
              </a:defRPr>
            </a:pPr>
            <a:endParaRPr sz="1350" dirty="0">
              <a:solidFill>
                <a:srgbClr val="333333"/>
              </a:solidFill>
            </a:endParaRPr>
          </a:p>
        </p:txBody>
      </p:sp>
      <p:sp>
        <p:nvSpPr>
          <p:cNvPr id="4" name="visible-slide-number-10">
            <a:extLst>
              <a:ext uri="{FF2B5EF4-FFF2-40B4-BE49-F238E27FC236}">
                <a16:creationId xmlns:a16="http://schemas.microsoft.com/office/drawing/2014/main" id="{CC8A6CFD-4EB9-4017-AD3D-7313B4B7035F}"/>
              </a:ext>
            </a:extLst>
          </p:cNvPr>
          <p:cNvSpPr>
            <a:spLocks noGrp="1"/>
          </p:cNvSpPr>
          <p:nvPr/>
        </p:nvSpPr>
        <p:spPr>
          <a:xfrm>
            <a:off x="495300" y="6429375"/>
            <a:ext cx="342900" cy="209550"/>
          </a:xfrm>
          <a:prstGeom prst="rect">
            <a:avLst/>
          </a:prstGeom>
          <a:solidFill>
            <a:srgbClr val="4F3775"/>
          </a:solidFill>
          <a:ln w="0">
            <a:solidFill>
              <a:srgbClr val="4F377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732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1123</Words>
  <Application>Microsoft Office PowerPoint</Application>
  <DocSecurity>0</DocSecurity>
  <PresentationFormat>On-screen Show (4:3)</PresentationFormat>
  <Paragraphs>125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Pager Rotation Duties</vt:lpstr>
      <vt:lpstr>Pager Rotations Provide Structured Incident Coverage</vt:lpstr>
      <vt:lpstr>Shared Pager Duty Extends DevOps Ownership into Production</vt:lpstr>
      <vt:lpstr>A Rotation Needs Clear Coverage and Escalation</vt:lpstr>
      <vt:lpstr>Fair Scheduling Makes On-Call Sustainable</vt:lpstr>
      <vt:lpstr>Only Actionable Alerts Should Page an Engineer</vt:lpstr>
      <vt:lpstr>Preparation Enables Faster and Safer Incident Response</vt:lpstr>
      <vt:lpstr>Every Incident Should Produce Lasting Improvement</vt:lpstr>
      <vt:lpstr>Healthy Pager Rotations Improve Reliability and Culture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Wade Eckert</cp:lastModifiedBy>
  <cp:revision>2</cp:revision>
  <dcterms:created xsi:type="dcterms:W3CDTF">2026-07-27T00:56:29Z</dcterms:created>
  <dcterms:modified xsi:type="dcterms:W3CDTF">2026-07-27T01:19:55Z</dcterms:modified>
</cp:coreProperties>
</file>