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83" autoAdjust="0"/>
  </p:normalViewPr>
  <p:slideViewPr>
    <p:cSldViewPr snapToGrid="0" snapToObjects="1">
      <p:cViewPr varScale="1">
        <p:scale>
          <a:sx n="112" d="100"/>
          <a:sy n="112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E2000A8-AB4E-43D3-A18B-4EAF48B7B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4640" y="3531196"/>
            <a:ext cx="4693557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ED7FAA-591B-41B7-8C04-304798F3A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4641" y="1740475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550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E44C2-D402-4494-826F-727C928A4A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25031F-6C24-4AC7-919E-B5A2F631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1D4D51E-8179-4C0E-B3DE-A0EF160DB1D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D36003-D8D5-47F4-A31E-3D8D5888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20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302AE-CA9E-47BE-BC07-3F0E00E3B7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2CA8AE-5F53-4FD7-84AB-A75CFCED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DF116A0-1B41-42CF-B8F2-64863E36B0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132073"/>
            <a:ext cx="8229600" cy="3872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57B342-CA0A-4CA0-B5AA-87278DED7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73955B8-2E03-4CFE-BCBA-4DBDF35F80EF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3587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E1E3-4081-47AE-A55D-7DD06430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140CB-684A-40DB-BB21-EE9AC2DD0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B20C3-A56D-4FA4-A63C-8D2AC6A086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8/16/2026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7479-56BE-46C3-9AA6-BEA79E356D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173B-7D26-4010-A318-1D4B18668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386ED-87BE-45D0-A90C-C2C3E16F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marL="0"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96B1-9A2D-45D0-B282-6D1C81A5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latin typeface="Arial"/>
                <a:ea typeface="Arial"/>
                <a:cs typeface="Arial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2B46D-C03B-4D37-AA09-AD05703074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latin typeface="Arial"/>
                <a:ea typeface="Arial"/>
                <a:cs typeface="Arial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6F69A-AA4F-44DD-8036-5416DBA28B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E631986-11DB-4BF8-ADC8-70C64BF8F168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2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06DF2F-0E88-4F7F-9273-9C03287B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E918-0078-4ECC-A672-6C425B0F9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18E8-408A-44C5-B952-3536F6DC397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863D9-D954-47BF-A4CB-F86386D56AB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BAFAB-2DB9-4219-A43D-F1778EB5E1D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latin typeface="Arial"/>
                <a:ea typeface="Arial"/>
                <a:cs typeface="Arial"/>
              </a:defRPr>
            </a:lvl1pPr>
            <a:lvl2pPr>
              <a:buNone/>
              <a:defRPr sz="2000">
                <a:latin typeface="Arial"/>
                <a:ea typeface="Arial"/>
                <a:cs typeface="Arial"/>
              </a:defRPr>
            </a:lvl2pPr>
            <a:lvl3pPr>
              <a:buNone/>
              <a:defRPr sz="1800">
                <a:latin typeface="Arial"/>
                <a:ea typeface="Arial"/>
                <a:cs typeface="Arial"/>
              </a:defRPr>
            </a:lvl3pPr>
            <a:lvl4pPr>
              <a:buNone/>
              <a:defRPr sz="1600">
                <a:latin typeface="Arial"/>
                <a:ea typeface="Arial"/>
                <a:cs typeface="Arial"/>
              </a:defRPr>
            </a:lvl4pPr>
            <a:lvl5pPr>
              <a:buNone/>
              <a:defRPr sz="1600">
                <a:latin typeface="Arial"/>
                <a:ea typeface="Arial"/>
                <a:cs typeface="Arial"/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5CC4E-1671-4A4F-A012-0F86F41B9D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5991CCA-741B-4AFD-8629-EC189D98F85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2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79D27BB-3BC3-49A8-8818-757B9860D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4641" y="2564887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550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AB3FB-F3AE-415E-B942-43E77FA76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8/16/2026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5D46D-2865-42C8-AA25-969D44FD2C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93EF-5FCC-43B3-A8F9-03E70DE4A6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FA5B0-A929-47EC-B995-54EAA404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F6066-AFAD-4E8C-8946-F3B5E89F7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latin typeface="Arial"/>
                <a:ea typeface="Arial"/>
                <a:cs typeface="Arial"/>
              </a:defRPr>
            </a:lvl1pPr>
            <a:lvl2pPr>
              <a:buNone/>
              <a:defRPr sz="2800">
                <a:latin typeface="Arial"/>
                <a:ea typeface="Arial"/>
                <a:cs typeface="Arial"/>
              </a:defRPr>
            </a:lvl2pPr>
            <a:lvl3pPr>
              <a:buNone/>
              <a:defRPr sz="2400">
                <a:latin typeface="Arial"/>
                <a:ea typeface="Arial"/>
                <a:cs typeface="Arial"/>
              </a:defRPr>
            </a:lvl3pPr>
            <a:lvl4pPr>
              <a:buNone/>
              <a:defRPr sz="2000">
                <a:latin typeface="Arial"/>
                <a:ea typeface="Arial"/>
                <a:cs typeface="Arial"/>
              </a:defRPr>
            </a:lvl4pPr>
            <a:lvl5pPr>
              <a:buNone/>
              <a:defRPr sz="2000">
                <a:latin typeface="Arial"/>
                <a:ea typeface="Arial"/>
                <a:cs typeface="Arial"/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0D1DE-F0C3-4225-A5F7-4B375DFB2C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DA26-13F8-432D-A1FD-940B52EC97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D240FE2-1CEB-445D-BCD9-51812893174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E0434-2F24-40C1-B4A0-25E9B3A19C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8/16/2026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54E2-FA1D-45AE-A7B7-5063325DAE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8D7FE-ED31-4542-BF97-A59F6EFFF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D80BF-CAEE-4186-BEFB-377FBC8F296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89E3-9012-754D-ACFE-6D3D94DB23F1}" type="datetimeFigureOut">
              <a:t>8/16/2026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4165C-3DCD-4BB6-B52D-3735C7E6AE4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8C03-902C-4589-8900-1BC34B6822A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F592-7035-BC42-B961-96A5B059A853}" type="slidenum">
              <a:t>‹#›</a:t>
            </a:fld>
            <a:endParaRPr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0C4075D-A00B-494E-9127-FC7F00FE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D31F3DD-EAEA-4872-B986-230EBE6D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>
        <a:buNone/>
        <a:defRPr sz="4400" b="0" i="0">
          <a:solidFill>
            <a:srgbClr val="533F7E"/>
          </a:solidFill>
          <a:latin typeface="Arial"/>
          <a:ea typeface="Arial"/>
          <a:cs typeface="Arial"/>
        </a:defRPr>
      </a:lvl1pPr>
    </p:titleStyle>
    <p:bodyStyle>
      <a:lvl1pPr marL="342900" indent="-342900" algn="l">
        <a:buChar char="•"/>
        <a:defRPr sz="3200">
          <a:solidFill>
            <a:srgbClr val="3B413F"/>
          </a:solidFill>
        </a:defRPr>
      </a:lvl1pPr>
      <a:lvl2pPr marL="742950" indent="-285750" algn="l">
        <a:buChar char="–"/>
        <a:defRPr sz="2800">
          <a:solidFill>
            <a:srgbClr val="3B413F"/>
          </a:solidFill>
        </a:defRPr>
      </a:lvl2pPr>
      <a:lvl3pPr marL="1143000" indent="-228600" algn="l">
        <a:buChar char="•"/>
        <a:defRPr sz="2400">
          <a:solidFill>
            <a:srgbClr val="3B413F"/>
          </a:solidFill>
        </a:defRPr>
      </a:lvl3pPr>
      <a:lvl4pPr marL="1600200" indent="-228600" algn="l">
        <a:buChar char="–"/>
        <a:defRPr sz="2000">
          <a:solidFill>
            <a:srgbClr val="3B413F"/>
          </a:solidFill>
        </a:defRPr>
      </a:lvl4pPr>
      <a:lvl5pPr marL="2057400" indent="-228600" algn="l">
        <a:buChar char="»"/>
        <a:defRPr sz="2000">
          <a:solidFill>
            <a:srgbClr val="3B413F"/>
          </a:solidFill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repositories/configuring-branches-and-merges-in-your-repository/managing-protected-branches/about-protected-branch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eatsheetseries.owasp.org/cheatsheets/Software_Supply_Chain_Security_Cheat_Sheet.html" TargetMode="External"/><Relationship Id="rId4" Type="http://schemas.openxmlformats.org/officeDocument/2006/relationships/hyperlink" Target="https://docs.github.com/en/enterprise-cloud@latest/code-security/getting-started/quickstart-for-securing-your-reposit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F53366-F6CE-4D2A-ACA2-C9486796C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38100" tIns="28575" rIns="38100" bIns="28575" anchor="ctr">
            <a:normAutofit fontScale="86616"/>
          </a:bodyPr>
          <a:lstStyle/>
          <a:p>
            <a:pPr algn="ctr">
              <a:buNone/>
              <a:defRPr sz="3450">
                <a:solidFill>
                  <a:srgbClr val="4F3775"/>
                </a:solidFill>
              </a:defRPr>
            </a:pPr>
            <a:r>
              <a:rPr sz="3450">
                <a:solidFill>
                  <a:srgbClr val="4F3775"/>
                </a:solidFill>
              </a:rPr>
              <a:t>Security Controls in Shared Source Code Repositories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37EA8FA-554F-49A6-954A-0ED06870E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38100" tIns="28575" rIns="38100" bIns="28575" anchor="ctr">
            <a:normAutofit fontScale="84645"/>
          </a:bodyPr>
          <a:lstStyle/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Best Practices for Protecting Code and Development Workflows</a:t>
            </a:r>
          </a:p>
          <a:p>
            <a:endParaRPr sz="1350" dirty="0">
              <a:solidFill>
                <a:srgbClr val="8A8A8A"/>
              </a:solidFill>
            </a:endParaRP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Wade Eckert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CSD380-T301 DevOps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Professor Nathan Braun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Bellevue University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Module 10.2 Assignment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 dirty="0">
                <a:solidFill>
                  <a:srgbClr val="8A8A8A"/>
                </a:solidFill>
              </a:rPr>
              <a:t>August 16, 2026</a:t>
            </a:r>
          </a:p>
        </p:txBody>
      </p:sp>
    </p:spTree>
    <p:extLst>
      <p:ext uri="{BB962C8B-B14F-4D97-AF65-F5344CB8AC3E}">
        <p14:creationId xmlns:p14="http://schemas.microsoft.com/office/powerpoint/2010/main" val="182769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Shared Repositories Concentrate Both Code and Risk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shared source code repository gives a team one place to store code, configuration, documentation, and the history of changes.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This improves collaboration, but it also concentrates risk because one compromised account or unsafe change can affect the entire project.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Common problems include unauthorized commits, rewritten history, exposed credentials, vulnerable dependencies, and modified build or deployment files.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Repository security therefore </a:t>
            </a: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needs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to protect who can access the code, how changes are approved, and whether the stored code remains trustworthy.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useful best practice is layered control: access rules, review requirements, automated tests, integrity checks, and monitoring work together instead of relying on one tool.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Strong Identity and Access Controls Limit Exposure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Each developer should use an individual account so repository activity can be connected to a specific person instead of a shared login.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Multi-factor authentication reduces the chance that a stolen password alone will give an attacker access to source code.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Role-based access and least privilege allow contributors to do their work while limiting administrative or destructive permissions.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Service accounts and automation tokens should have narrow scopes, short lifetimes when possible, and no unnecessary access to other repositories.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Regular access reviews and prompt offboarding remove accounts, keys, and tokens that are no longer needed.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Audit logs give the team a record of logins, permission changes, and repository actions that may need investigation. 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Protected Branches Put Review Before Merge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Main and release branches should be protected from direct editing, force pushes, and accidental deletion.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Requiring pull requests creates a visible review point before new code becomes part of the trusted branch.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At least one qualified reviewer should approve a change, and CODEOWNERS can request specialists for sensitive files such as workflows or security settings.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Required status checks can prevent merging until automated tests and security scans finish successfully.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Bypass privileges should be limited and exceptions should be documented so urgent changes do not quietly become the normal process.</a:t>
            </a:r>
            <a:endParaRPr sz="150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Reviews are easier to perform well when changes are small, clearly explained, and separated from unrelated work. 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Secrets Must Remain Outside the Repository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Passwords, API keys, certificates, and cloud credentials should not be stored in source files because repository history may preserve them after deletion.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secret-management service can store the real value and provide it to an application or workflow only when it is needed.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.</a:t>
            </a:r>
            <a:r>
              <a:rPr sz="150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gitignore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file helps prevent new local files from being added, but it does not remove a secret that was already committed.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Secret scanning and push protection can detect common credential patterns and warn or block a developer before the change reaches the shared branch.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If a secret is exposed, the first response is to revoke or rotate it; cleaning repository history alone does not make the old credential safe.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Documentation and sample configuration files should use placeholders or non-sensitive test values. 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Automated Scanning Finds Problems Before Merge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Security checks can run automatically when a pull request is opened or updated, giving developers feedback before a change reaches the main branch.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Static analysis looks for insecure coding patterns, dependency scanning finds known library vulnerabilities, secret scanning finds credentials, and infrastructure-as-code scanning checks configuration files.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team can set a severity threshold so serious findings block the merge while lower-risk findings are recorded for later review.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Useful results should identify the affected file or dependency, explain the risk in plain language, and suggest a practical correction.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False positives still need review, and accepted risks should be documented instead of repeatedly ignored.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Automated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results should support rather than replace human review. 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Integrity Controls Create a Traceable Code History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Signed commits and tags help verify which identity approved a change and whether the signed content was modified afterward.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Protected history and repository audit logs preserve a record of who changed code, settings, permissions, and release information.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Code signing and cryptographic hashes allow users or deployment systems to check that a release matches the artifact produced by the approved process.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Build provenance adds context by recording the source commit, build process, and environment connected to an artifact.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Signing keys should be restricted and stored securely because a stolen private key could make malicious software appear legitimate.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valid signature proves origin and integrity, but it does not prove that the code is safe; review and scanning are still necessary. 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CI/CD Workflows Expand the Attack Surface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47625" rIns="66675" bIns="47625" anchor="t">
            <a:normAutofit/>
          </a:bodyPr>
          <a:lstStyle/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Repositories often contain workflow files that control builds, tests, package creation, and deployment, so those files can affect systems beyond the codebase itself.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 unsafe pull request could change a workflow or run untrusted code where automation credentials and deployment secrets are available.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Workflow changes should receive the same protected-branch review as application code, with CODEOWNERS used for especially sensitive files.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Automation tokens should receive the least permission required, and short-lived credentials are safer than reusable credentials stored for long periods.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Third-party actions, plugins, and build dependencies should be limited to trusted sources and pinned to reviewed versions or commit hashes.</a:t>
            </a:r>
          </a:p>
          <a:p>
            <a:pPr algn="l"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0" indent="-12" algn="l">
              <a:spcAft>
                <a:spcPts val="0"/>
              </a:spcAft>
              <a:buChar char="•"/>
              <a:defRPr sz="15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Untrusted builds should be isolated from production secrets, while workflow changes and security events should be logged for investigation. 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Layered Controls Create a Secure Path to Release</a:t>
            </a:r>
          </a:p>
        </p:txBody>
      </p:sp>
      <p:sp>
        <p:nvSpPr>
          <p:cNvPr id="4" name="diagram-introduction">
            <a:extLst>
              <a:ext uri="{FF2B5EF4-FFF2-40B4-BE49-F238E27FC236}">
                <a16:creationId xmlns:a16="http://schemas.microsoft.com/office/drawing/2014/main" id="{44F1E4C7-7278-4BC4-A40B-35FF8E795686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788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422E61"/>
                </a:solidFill>
              </a:defRPr>
            </a:pPr>
            <a:r>
              <a:rPr sz="1350" b="1" dirty="0">
                <a:solidFill>
                  <a:srgbClr val="422E61"/>
                </a:solidFill>
              </a:rPr>
              <a:t>Repository security is strongest when controls follow each change from initial access through continued monitoring.</a:t>
            </a:r>
          </a:p>
        </p:txBody>
      </p:sp>
      <p:sp>
        <p:nvSpPr>
          <p:cNvPr id="5" name="escalation-card-1">
            <a:extLst>
              <a:ext uri="{FF2B5EF4-FFF2-40B4-BE49-F238E27FC236}">
                <a16:creationId xmlns:a16="http://schemas.microsoft.com/office/drawing/2014/main" id="{5B89AE53-86C4-4845-AB29-A9171AE7A1C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/>
              <a:t>Authenticate</a:t>
            </a:r>
            <a:r>
              <a:t>  Use individual accounts, multi-factor authentication, and least privilege.</a:t>
            </a:r>
          </a:p>
        </p:txBody>
      </p:sp>
      <p:sp>
        <p:nvSpPr>
          <p:cNvPr id="6" name="escalation-card-2">
            <a:extLst>
              <a:ext uri="{FF2B5EF4-FFF2-40B4-BE49-F238E27FC236}">
                <a16:creationId xmlns:a16="http://schemas.microsoft.com/office/drawing/2014/main" id="{DCF4A3BA-621B-43AC-9908-CDB8733D6420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 dirty="0"/>
              <a:t>Review</a:t>
            </a:r>
            <a:r>
              <a:rPr dirty="0"/>
              <a:t>  Require pull requests, protected branches, qualified approval, and passing checks.</a:t>
            </a:r>
          </a:p>
        </p:txBody>
      </p:sp>
      <p:sp>
        <p:nvSpPr>
          <p:cNvPr id="7" name="escalation-card-3">
            <a:extLst>
              <a:ext uri="{FF2B5EF4-FFF2-40B4-BE49-F238E27FC236}">
                <a16:creationId xmlns:a16="http://schemas.microsoft.com/office/drawing/2014/main" id="{CC6F7496-ABA8-410B-A58A-37F1DAE15EE0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 dirty="0"/>
              <a:t>Scan</a:t>
            </a:r>
            <a:r>
              <a:rPr dirty="0"/>
              <a:t>  Check code, secrets, dependencies, and configuration before merge.</a:t>
            </a:r>
          </a:p>
        </p:txBody>
      </p:sp>
      <p:sp>
        <p:nvSpPr>
          <p:cNvPr id="8" name="escalation-card-4">
            <a:extLst>
              <a:ext uri="{FF2B5EF4-FFF2-40B4-BE49-F238E27FC236}">
                <a16:creationId xmlns:a16="http://schemas.microsoft.com/office/drawing/2014/main" id="{C74D30C8-2300-40E8-81DB-191B31AE8B33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/>
              <a:t>Verify &amp; Monitor</a:t>
            </a:r>
            <a:r>
              <a:t>  Sign releases, preserve provenance, and review logs and alerts.</a:t>
            </a:r>
          </a:p>
        </p:txBody>
      </p:sp>
      <p:cxnSp>
        <p:nvCxnSpPr>
          <p:cNvPr id="60" name="Straight Arrow Connector 23"/>
          <p:cNvCxnSpPr>
            <a:stCxn id="5" idx="2"/>
            <a:endCxn id="6" idx="0"/>
          </p:cNvCxnSpPr>
          <p:nvPr/>
        </p:nvCxnSpPr>
        <p:spPr>
          <a:xfrm>
            <a:off x="4572000" y="24574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cxnSp>
        <p:nvCxnSpPr>
          <p:cNvPr id="61" name="Straight Arrow Connector 24"/>
          <p:cNvCxnSpPr>
            <a:stCxn id="6" idx="2"/>
            <a:endCxn id="7" idx="0"/>
          </p:cNvCxnSpPr>
          <p:nvPr/>
        </p:nvCxnSpPr>
        <p:spPr>
          <a:xfrm>
            <a:off x="4572000" y="32956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cxnSp>
        <p:nvCxnSpPr>
          <p:cNvPr id="62" name="Straight Arrow Connector 25"/>
          <p:cNvCxnSpPr>
            <a:stCxn id="7" idx="2"/>
            <a:endCxn id="8" idx="0"/>
          </p:cNvCxnSpPr>
          <p:nvPr/>
        </p:nvCxnSpPr>
        <p:spPr>
          <a:xfrm>
            <a:off x="4572000" y="41338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sp>
        <p:nvSpPr>
          <p:cNvPr id="12" name="escalation-step-1">
            <a:extLst>
              <a:ext uri="{FF2B5EF4-FFF2-40B4-BE49-F238E27FC236}">
                <a16:creationId xmlns:a16="http://schemas.microsoft.com/office/drawing/2014/main" id="{C947EBDD-FBC8-4EC5-971B-7A6836DB42E7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escalation-step-2">
            <a:extLst>
              <a:ext uri="{FF2B5EF4-FFF2-40B4-BE49-F238E27FC236}">
                <a16:creationId xmlns:a16="http://schemas.microsoft.com/office/drawing/2014/main" id="{D24FFF76-C1ED-4161-A370-439B5B4ED9FC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escalation-step-3">
            <a:extLst>
              <a:ext uri="{FF2B5EF4-FFF2-40B4-BE49-F238E27FC236}">
                <a16:creationId xmlns:a16="http://schemas.microsoft.com/office/drawing/2014/main" id="{CD878616-EA31-4CD9-9AAA-D1B5FED658DB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escalation-step-4">
            <a:extLst>
              <a:ext uri="{FF2B5EF4-FFF2-40B4-BE49-F238E27FC236}">
                <a16:creationId xmlns:a16="http://schemas.microsoft.com/office/drawing/2014/main" id="{5344D83B-B6AD-4174-B988-7EA95ADB905B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diagram-closing-statement">
            <a:extLst>
              <a:ext uri="{FF2B5EF4-FFF2-40B4-BE49-F238E27FC236}">
                <a16:creationId xmlns:a16="http://schemas.microsoft.com/office/drawing/2014/main" id="{AB4DB324-39E4-4ECC-BDA9-C43CAE1DD901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52400" tIns="38100" rIns="152400" bIns="38100" anchor="ctr"/>
          <a:lstStyle/>
          <a:p>
            <a:pPr algn="ctr">
              <a:buNone/>
              <a:defRPr sz="1200" i="1">
                <a:solidFill>
                  <a:srgbClr val="422E61"/>
                </a:solidFill>
              </a:defRPr>
            </a:pPr>
            <a:r>
              <a:rPr sz="1200" i="1" dirty="0">
                <a:solidFill>
                  <a:srgbClr val="422E61"/>
                </a:solidFill>
              </a:rPr>
              <a:t>No single control prevents every problem. Layering these steps makes unsafe changes harder to introduce and easier to trace, detect, and correct. </a:t>
            </a:r>
          </a:p>
        </p:txBody>
      </p:sp>
      <p:sp>
        <p:nvSpPr>
          <p:cNvPr id="17" name="visible-slide-number-4">
            <a:extLst>
              <a:ext uri="{FF2B5EF4-FFF2-40B4-BE49-F238E27FC236}">
                <a16:creationId xmlns:a16="http://schemas.microsoft.com/office/drawing/2014/main" id="{8DC55C5F-D219-4E0A-A89C-F614EE56C2C8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66675" tIns="38100" rIns="66675" bIns="38100" anchor="t">
            <a:normAutofit/>
          </a:bodyPr>
          <a:lstStyle/>
          <a:p>
            <a:pPr marL="24" indent="-14" algn="l">
              <a:spcAft>
                <a:spcPts val="8"/>
              </a:spcAft>
              <a:buChar char="•"/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GitHub. (n.d.-a). </a:t>
            </a:r>
            <a:r>
              <a:rPr sz="1350" i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About protected branches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. GitHub Docs.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  <a:hlinkClick r:id="rId3"/>
              </a:rPr>
              <a:t>https://docs.github.com/en/repositories/configuring-branches-and-merges-in-your-repository/managing-protected-branches/about-protected-branches</a:t>
            </a:r>
          </a:p>
          <a:p>
            <a:pPr algn="l"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4" indent="-14" algn="l">
              <a:spcAft>
                <a:spcPts val="8"/>
              </a:spcAft>
              <a:buChar char="•"/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GitHub. (n.d.-b). </a:t>
            </a:r>
            <a:r>
              <a:rPr sz="1350" i="1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Quickstart</a:t>
            </a:r>
            <a:r>
              <a:rPr sz="1350" i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for securing your repository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. GitHub Docs.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  <a:hlinkClick r:id="rId4"/>
              </a:rPr>
              <a:t>https://docs.github.com/en/enterprise-cloud@latest/code-security/getting-started/quickstart-for-securing-your-repository</a:t>
            </a:r>
          </a:p>
          <a:p>
            <a:pPr algn="l"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4" indent="-14" algn="l">
              <a:spcAft>
                <a:spcPts val="8"/>
              </a:spcAft>
              <a:buChar char="•"/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Kim, G., Humble, J., Debois, P., Willis, J., &amp; Forsgren, N. (2021). </a:t>
            </a:r>
            <a:r>
              <a:rPr sz="1350" i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DevOps handbook: How to create world-class agility, reliability, &amp; security in technology organizations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(2nd ed.). IT Revolution Press.</a:t>
            </a:r>
          </a:p>
          <a:p>
            <a:pPr algn="l"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marL="24" indent="-14" algn="l">
              <a:spcAft>
                <a:spcPts val="8"/>
              </a:spcAft>
              <a:buChar char="•"/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OWASP Cheat Sheet Series. (n.d.). </a:t>
            </a:r>
            <a:r>
              <a:rPr sz="1350" i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Software supply chain security cheat sheet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. </a:t>
            </a: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  <a:hlinkClick r:id="rId5"/>
              </a:rPr>
              <a:t>https://cheatsheetseries.owasp.org/cheatsheets/Software_Supply_Chain_Security_Cheat_Sheet.html</a:t>
            </a:r>
          </a:p>
          <a:p>
            <a:pPr algn="l"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" name="visible-slide-number-10">
            <a:extLst>
              <a:ext uri="{FF2B5EF4-FFF2-40B4-BE49-F238E27FC236}">
                <a16:creationId xmlns:a16="http://schemas.microsoft.com/office/drawing/2014/main" id="{CC8A6CFD-4EB9-4017-AD3D-7313B4B7035F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1332</Words>
  <Application>Microsoft Office PowerPoint</Application>
  <DocSecurity>0</DocSecurity>
  <PresentationFormat>On-screen Show (4:3)</PresentationFormat>
  <Paragraphs>120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Security Controls in Shared Source Code Repositories</vt:lpstr>
      <vt:lpstr>Shared Repositories Concentrate Both Code and Risk</vt:lpstr>
      <vt:lpstr>Strong Identity and Access Controls Limit Exposure</vt:lpstr>
      <vt:lpstr>Protected Branches Put Review Before Merge</vt:lpstr>
      <vt:lpstr>Secrets Must Remain Outside the Repository</vt:lpstr>
      <vt:lpstr>Automated Scanning Finds Problems Before Merge</vt:lpstr>
      <vt:lpstr>Integrity Controls Create a Traceable Code History</vt:lpstr>
      <vt:lpstr>CI/CD Workflows Expand the Attack Surface</vt:lpstr>
      <vt:lpstr>Layered Controls Create a Secure Path to Release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Wade Eckert</cp:lastModifiedBy>
  <cp:revision>5</cp:revision>
  <dcterms:created xsi:type="dcterms:W3CDTF">2026-08-16T07:20:52Z</dcterms:created>
  <dcterms:modified xsi:type="dcterms:W3CDTF">2026-08-16T07:44:07Z</dcterms:modified>
</cp:coreProperties>
</file>